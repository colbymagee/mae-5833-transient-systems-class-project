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
  </p:notesMasterIdLst>
  <p:sldIdLst>
    <p:sldId id="256" r:id="rId2"/>
    <p:sldId id="258" r:id="rId3"/>
    <p:sldId id="261" r:id="rId4"/>
    <p:sldId id="260" r:id="rId5"/>
    <p:sldId id="259" r:id="rId6"/>
    <p:sldId id="262" r:id="rId7"/>
    <p:sldId id="257"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56B407B-EF3D-43E8-822E-366B1C315646}" v="9" dt="2026-09-11T18:04:13.45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6" d="100"/>
          <a:sy n="106" d="100"/>
        </p:scale>
        <p:origin x="792" y="96"/>
      </p:cViewPr>
      <p:guideLst/>
    </p:cSldViewPr>
  </p:slideViewPr>
  <p:notesTextViewPr>
    <p:cViewPr>
      <p:scale>
        <a:sx n="3" d="2"/>
        <a:sy n="3" d="2"/>
      </p:scale>
      <p:origin x="0" y="-5"/>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gee, Colby" userId="e2b40851-d313-446f-a0a4-6c6974280ec1" providerId="ADAL" clId="{0E123D3F-16CD-4E3C-B265-A92103BF013E}"/>
    <pc:docChg chg="undo custSel modSld">
      <pc:chgData name="Magee, Colby" userId="e2b40851-d313-446f-a0a4-6c6974280ec1" providerId="ADAL" clId="{0E123D3F-16CD-4E3C-B265-A92103BF013E}" dt="2026-09-11T18:15:56.054" v="1148" actId="20577"/>
      <pc:docMkLst>
        <pc:docMk/>
      </pc:docMkLst>
      <pc:sldChg chg="addSp delSp modSp mod">
        <pc:chgData name="Magee, Colby" userId="e2b40851-d313-446f-a0a4-6c6974280ec1" providerId="ADAL" clId="{0E123D3F-16CD-4E3C-B265-A92103BF013E}" dt="2026-09-11T18:09:14.791" v="1074" actId="1076"/>
        <pc:sldMkLst>
          <pc:docMk/>
          <pc:sldMk cId="1316574169" sldId="257"/>
        </pc:sldMkLst>
        <pc:spChg chg="add mod">
          <ac:chgData name="Magee, Colby" userId="e2b40851-d313-446f-a0a4-6c6974280ec1" providerId="ADAL" clId="{0E123D3F-16CD-4E3C-B265-A92103BF013E}" dt="2026-09-11T17:57:18.844" v="230" actId="20577"/>
          <ac:spMkLst>
            <pc:docMk/>
            <pc:sldMk cId="1316574169" sldId="257"/>
            <ac:spMk id="2" creationId="{8B9D2F53-9771-2983-2A2D-B476308CB1B7}"/>
          </ac:spMkLst>
        </pc:spChg>
        <pc:spChg chg="add del mod">
          <ac:chgData name="Magee, Colby" userId="e2b40851-d313-446f-a0a4-6c6974280ec1" providerId="ADAL" clId="{0E123D3F-16CD-4E3C-B265-A92103BF013E}" dt="2026-09-11T18:02:31.659" v="715" actId="478"/>
          <ac:spMkLst>
            <pc:docMk/>
            <pc:sldMk cId="1316574169" sldId="257"/>
            <ac:spMk id="3" creationId="{A222EBC9-1C48-A964-6ACE-CD0020FC6D04}"/>
          </ac:spMkLst>
        </pc:spChg>
        <pc:spChg chg="add mod">
          <ac:chgData name="Magee, Colby" userId="e2b40851-d313-446f-a0a4-6c6974280ec1" providerId="ADAL" clId="{0E123D3F-16CD-4E3C-B265-A92103BF013E}" dt="2026-09-11T18:02:45.117" v="720" actId="1076"/>
          <ac:spMkLst>
            <pc:docMk/>
            <pc:sldMk cId="1316574169" sldId="257"/>
            <ac:spMk id="5" creationId="{60C1662B-107F-48C6-3E3E-C02506B39DB1}"/>
          </ac:spMkLst>
        </pc:spChg>
        <pc:spChg chg="add del mod">
          <ac:chgData name="Magee, Colby" userId="e2b40851-d313-446f-a0a4-6c6974280ec1" providerId="ADAL" clId="{0E123D3F-16CD-4E3C-B265-A92103BF013E}" dt="2026-09-11T18:03:16.330" v="755" actId="478"/>
          <ac:spMkLst>
            <pc:docMk/>
            <pc:sldMk cId="1316574169" sldId="257"/>
            <ac:spMk id="6" creationId="{9FE585B8-D29B-43A5-81AA-781CBE302534}"/>
          </ac:spMkLst>
        </pc:spChg>
        <pc:spChg chg="add mod">
          <ac:chgData name="Magee, Colby" userId="e2b40851-d313-446f-a0a4-6c6974280ec1" providerId="ADAL" clId="{0E123D3F-16CD-4E3C-B265-A92103BF013E}" dt="2026-09-11T18:09:04.126" v="1069" actId="115"/>
          <ac:spMkLst>
            <pc:docMk/>
            <pc:sldMk cId="1316574169" sldId="257"/>
            <ac:spMk id="8" creationId="{28D2AC0B-64D0-44DF-057C-AC9F455DFD14}"/>
          </ac:spMkLst>
        </pc:spChg>
        <pc:spChg chg="add mod">
          <ac:chgData name="Magee, Colby" userId="e2b40851-d313-446f-a0a4-6c6974280ec1" providerId="ADAL" clId="{0E123D3F-16CD-4E3C-B265-A92103BF013E}" dt="2026-09-11T18:09:00.950" v="1068" actId="115"/>
          <ac:spMkLst>
            <pc:docMk/>
            <pc:sldMk cId="1316574169" sldId="257"/>
            <ac:spMk id="10" creationId="{323C7793-F170-BD36-7272-86441A0F7534}"/>
          </ac:spMkLst>
        </pc:spChg>
        <pc:spChg chg="add mod">
          <ac:chgData name="Magee, Colby" userId="e2b40851-d313-446f-a0a4-6c6974280ec1" providerId="ADAL" clId="{0E123D3F-16CD-4E3C-B265-A92103BF013E}" dt="2026-09-11T18:05:08.130" v="850" actId="1076"/>
          <ac:spMkLst>
            <pc:docMk/>
            <pc:sldMk cId="1316574169" sldId="257"/>
            <ac:spMk id="14" creationId="{32FA84E3-1DE9-FCE1-E834-16808F0A0E96}"/>
          </ac:spMkLst>
        </pc:spChg>
        <pc:spChg chg="add mod">
          <ac:chgData name="Magee, Colby" userId="e2b40851-d313-446f-a0a4-6c6974280ec1" providerId="ADAL" clId="{0E123D3F-16CD-4E3C-B265-A92103BF013E}" dt="2026-09-11T18:09:09.309" v="1072" actId="115"/>
          <ac:spMkLst>
            <pc:docMk/>
            <pc:sldMk cId="1316574169" sldId="257"/>
            <ac:spMk id="16" creationId="{54029863-EBF5-AFC3-6265-E023C3ED0F98}"/>
          </ac:spMkLst>
        </pc:spChg>
        <pc:spChg chg="add mod">
          <ac:chgData name="Magee, Colby" userId="e2b40851-d313-446f-a0a4-6c6974280ec1" providerId="ADAL" clId="{0E123D3F-16CD-4E3C-B265-A92103BF013E}" dt="2026-09-11T18:09:14.791" v="1074" actId="1076"/>
          <ac:spMkLst>
            <pc:docMk/>
            <pc:sldMk cId="1316574169" sldId="257"/>
            <ac:spMk id="19" creationId="{DDF25538-DE59-30A4-96E5-7C3CFF31A01A}"/>
          </ac:spMkLst>
        </pc:spChg>
        <pc:graphicFrameChg chg="add mod modGraphic">
          <ac:chgData name="Magee, Colby" userId="e2b40851-d313-446f-a0a4-6c6974280ec1" providerId="ADAL" clId="{0E123D3F-16CD-4E3C-B265-A92103BF013E}" dt="2026-09-11T18:08:46.732" v="1062" actId="122"/>
          <ac:graphicFrameMkLst>
            <pc:docMk/>
            <pc:sldMk cId="1316574169" sldId="257"/>
            <ac:graphicFrameMk id="7" creationId="{601CC8A4-6174-0064-AD5F-423117A7E8BA}"/>
          </ac:graphicFrameMkLst>
        </pc:graphicFrameChg>
        <pc:graphicFrameChg chg="add mod modGraphic">
          <ac:chgData name="Magee, Colby" userId="e2b40851-d313-446f-a0a4-6c6974280ec1" providerId="ADAL" clId="{0E123D3F-16CD-4E3C-B265-A92103BF013E}" dt="2026-09-11T18:04:09.523" v="804" actId="1076"/>
          <ac:graphicFrameMkLst>
            <pc:docMk/>
            <pc:sldMk cId="1316574169" sldId="257"/>
            <ac:graphicFrameMk id="9" creationId="{2703E83D-A4A9-B8BE-DF81-A9D9880BD1DF}"/>
          </ac:graphicFrameMkLst>
        </pc:graphicFrameChg>
        <pc:graphicFrameChg chg="add del mod modGraphic">
          <ac:chgData name="Magee, Colby" userId="e2b40851-d313-446f-a0a4-6c6974280ec1" providerId="ADAL" clId="{0E123D3F-16CD-4E3C-B265-A92103BF013E}" dt="2026-09-11T18:08:54.122" v="1065" actId="12385"/>
          <ac:graphicFrameMkLst>
            <pc:docMk/>
            <pc:sldMk cId="1316574169" sldId="257"/>
            <ac:graphicFrameMk id="12" creationId="{1EDAFE54-FBF7-E21A-0AD3-BE4F8A4EBC2A}"/>
          </ac:graphicFrameMkLst>
        </pc:graphicFrameChg>
        <pc:graphicFrameChg chg="add mod modGraphic">
          <ac:chgData name="Magee, Colby" userId="e2b40851-d313-446f-a0a4-6c6974280ec1" providerId="ADAL" clId="{0E123D3F-16CD-4E3C-B265-A92103BF013E}" dt="2026-09-11T18:08:44.156" v="1061" actId="122"/>
          <ac:graphicFrameMkLst>
            <pc:docMk/>
            <pc:sldMk cId="1316574169" sldId="257"/>
            <ac:graphicFrameMk id="17" creationId="{1FC83FD6-050F-CEAC-F4FB-B664607F3AA5}"/>
          </ac:graphicFrameMkLst>
        </pc:graphicFrameChg>
      </pc:sldChg>
      <pc:sldChg chg="modSp mod">
        <pc:chgData name="Magee, Colby" userId="e2b40851-d313-446f-a0a4-6c6974280ec1" providerId="ADAL" clId="{0E123D3F-16CD-4E3C-B265-A92103BF013E}" dt="2026-09-11T18:15:56.054" v="1148" actId="20577"/>
        <pc:sldMkLst>
          <pc:docMk/>
          <pc:sldMk cId="383518162" sldId="259"/>
        </pc:sldMkLst>
        <pc:spChg chg="mod">
          <ac:chgData name="Magee, Colby" userId="e2b40851-d313-446f-a0a4-6c6974280ec1" providerId="ADAL" clId="{0E123D3F-16CD-4E3C-B265-A92103BF013E}" dt="2026-09-11T18:15:56.054" v="1148" actId="20577"/>
          <ac:spMkLst>
            <pc:docMk/>
            <pc:sldMk cId="383518162" sldId="259"/>
            <ac:spMk id="5" creationId="{1F522168-A7A1-3F1F-3AEF-821DBD100A5A}"/>
          </ac:spMkLst>
        </pc:spChg>
      </pc:sldChg>
      <pc:sldChg chg="modSp mod">
        <pc:chgData name="Magee, Colby" userId="e2b40851-d313-446f-a0a4-6c6974280ec1" providerId="ADAL" clId="{0E123D3F-16CD-4E3C-B265-A92103BF013E}" dt="2026-09-11T18:14:25.990" v="1076" actId="255"/>
        <pc:sldMkLst>
          <pc:docMk/>
          <pc:sldMk cId="1762654529" sldId="260"/>
        </pc:sldMkLst>
        <pc:spChg chg="mod">
          <ac:chgData name="Magee, Colby" userId="e2b40851-d313-446f-a0a4-6c6974280ec1" providerId="ADAL" clId="{0E123D3F-16CD-4E3C-B265-A92103BF013E}" dt="2026-09-11T18:14:25.990" v="1076" actId="255"/>
          <ac:spMkLst>
            <pc:docMk/>
            <pc:sldMk cId="1762654529" sldId="260"/>
            <ac:spMk id="11" creationId="{CAA764A6-5523-7A88-E0C3-C1531FA99D81}"/>
          </ac:spMkLst>
        </pc:spChg>
      </pc:sldChg>
      <pc:sldChg chg="addSp modSp mod">
        <pc:chgData name="Magee, Colby" userId="e2b40851-d313-446f-a0a4-6c6974280ec1" providerId="ADAL" clId="{0E123D3F-16CD-4E3C-B265-A92103BF013E}" dt="2026-09-11T17:56:24.016" v="197" actId="1076"/>
        <pc:sldMkLst>
          <pc:docMk/>
          <pc:sldMk cId="4011213747" sldId="262"/>
        </pc:sldMkLst>
        <pc:spChg chg="mod">
          <ac:chgData name="Magee, Colby" userId="e2b40851-d313-446f-a0a4-6c6974280ec1" providerId="ADAL" clId="{0E123D3F-16CD-4E3C-B265-A92103BF013E}" dt="2026-09-11T17:56:19.540" v="195" actId="1076"/>
          <ac:spMkLst>
            <pc:docMk/>
            <pc:sldMk cId="4011213747" sldId="262"/>
            <ac:spMk id="6" creationId="{42B2FCB5-4CC8-68D8-E50D-114AC6A73D92}"/>
          </ac:spMkLst>
        </pc:spChg>
        <pc:spChg chg="add mod">
          <ac:chgData name="Magee, Colby" userId="e2b40851-d313-446f-a0a4-6c6974280ec1" providerId="ADAL" clId="{0E123D3F-16CD-4E3C-B265-A92103BF013E}" dt="2026-09-11T17:56:21.840" v="196" actId="1076"/>
          <ac:spMkLst>
            <pc:docMk/>
            <pc:sldMk cId="4011213747" sldId="262"/>
            <ac:spMk id="7" creationId="{480EC4A0-63AD-E285-E4FB-515C7AC8C82C}"/>
          </ac:spMkLst>
        </pc:spChg>
        <pc:picChg chg="mod">
          <ac:chgData name="Magee, Colby" userId="e2b40851-d313-446f-a0a4-6c6974280ec1" providerId="ADAL" clId="{0E123D3F-16CD-4E3C-B265-A92103BF013E}" dt="2026-09-11T17:56:19.540" v="195" actId="1076"/>
          <ac:picMkLst>
            <pc:docMk/>
            <pc:sldMk cId="4011213747" sldId="262"/>
            <ac:picMk id="3" creationId="{7467EDE8-FDD1-CA30-88AE-8F462B3D4D9C}"/>
          </ac:picMkLst>
        </pc:picChg>
        <pc:picChg chg="mod">
          <ac:chgData name="Magee, Colby" userId="e2b40851-d313-446f-a0a4-6c6974280ec1" providerId="ADAL" clId="{0E123D3F-16CD-4E3C-B265-A92103BF013E}" dt="2026-09-11T17:56:19.540" v="195" actId="1076"/>
          <ac:picMkLst>
            <pc:docMk/>
            <pc:sldMk cId="4011213747" sldId="262"/>
            <ac:picMk id="4" creationId="{D7E94829-F459-0746-C3E2-24B3DC550CC8}"/>
          </ac:picMkLst>
        </pc:picChg>
        <pc:picChg chg="mod">
          <ac:chgData name="Magee, Colby" userId="e2b40851-d313-446f-a0a4-6c6974280ec1" providerId="ADAL" clId="{0E123D3F-16CD-4E3C-B265-A92103BF013E}" dt="2026-09-11T17:56:19.540" v="195" actId="1076"/>
          <ac:picMkLst>
            <pc:docMk/>
            <pc:sldMk cId="4011213747" sldId="262"/>
            <ac:picMk id="5" creationId="{10AB2955-B427-3B23-A757-018DB715C69E}"/>
          </ac:picMkLst>
        </pc:picChg>
        <pc:picChg chg="add mod">
          <ac:chgData name="Magee, Colby" userId="e2b40851-d313-446f-a0a4-6c6974280ec1" providerId="ADAL" clId="{0E123D3F-16CD-4E3C-B265-A92103BF013E}" dt="2026-09-11T17:56:24.016" v="197" actId="1076"/>
          <ac:picMkLst>
            <pc:docMk/>
            <pc:sldMk cId="4011213747" sldId="262"/>
            <ac:picMk id="9" creationId="{8FCED5FC-AEB0-DCD3-3A85-8D75360B91BD}"/>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6E24837-3F70-4B61-9B59-4541E4917D90}" type="datetimeFigureOut">
              <a:rPr lang="en-US" smtClean="0"/>
              <a:t>9/11/2026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745C04-01D4-4D50-A00A-19A1C7AAFFFD}" type="slidenum">
              <a:rPr lang="en-US" smtClean="0"/>
              <a:t>‹#›</a:t>
            </a:fld>
            <a:endParaRPr lang="en-US"/>
          </a:p>
        </p:txBody>
      </p:sp>
    </p:spTree>
    <p:extLst>
      <p:ext uri="{BB962C8B-B14F-4D97-AF65-F5344CB8AC3E}">
        <p14:creationId xmlns:p14="http://schemas.microsoft.com/office/powerpoint/2010/main" val="21629028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C745C04-01D4-4D50-A00A-19A1C7AAFFFD}" type="slidenum">
              <a:rPr lang="en-US" smtClean="0"/>
              <a:t>5</a:t>
            </a:fld>
            <a:endParaRPr lang="en-US"/>
          </a:p>
        </p:txBody>
      </p:sp>
    </p:spTree>
    <p:extLst>
      <p:ext uri="{BB962C8B-B14F-4D97-AF65-F5344CB8AC3E}">
        <p14:creationId xmlns:p14="http://schemas.microsoft.com/office/powerpoint/2010/main" val="1015225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C39AD0-BA55-41D4-3F64-A05A35D0197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8E58152-E809-EA67-EBF2-DCEDA95AB9C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00AC8AD-7791-CC09-97E0-3DF904C42C9E}"/>
              </a:ext>
            </a:extLst>
          </p:cNvPr>
          <p:cNvSpPr>
            <a:spLocks noGrp="1"/>
          </p:cNvSpPr>
          <p:nvPr>
            <p:ph type="dt" sz="half" idx="10"/>
          </p:nvPr>
        </p:nvSpPr>
        <p:spPr/>
        <p:txBody>
          <a:bodyPr/>
          <a:lstStyle/>
          <a:p>
            <a:fld id="{6A3553B4-03B8-4CC9-A340-7AD8A3D22438}" type="datetimeFigureOut">
              <a:rPr lang="en-US" smtClean="0"/>
              <a:t>9/11/2026</a:t>
            </a:fld>
            <a:endParaRPr lang="en-US"/>
          </a:p>
        </p:txBody>
      </p:sp>
      <p:sp>
        <p:nvSpPr>
          <p:cNvPr id="5" name="Footer Placeholder 4">
            <a:extLst>
              <a:ext uri="{FF2B5EF4-FFF2-40B4-BE49-F238E27FC236}">
                <a16:creationId xmlns:a16="http://schemas.microsoft.com/office/drawing/2014/main" id="{FFE33D15-7AF9-3E89-7E87-A9E103CE027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B447166-197F-A0CD-F891-8727BDEFB481}"/>
              </a:ext>
            </a:extLst>
          </p:cNvPr>
          <p:cNvSpPr>
            <a:spLocks noGrp="1"/>
          </p:cNvSpPr>
          <p:nvPr>
            <p:ph type="sldNum" sz="quarter" idx="12"/>
          </p:nvPr>
        </p:nvSpPr>
        <p:spPr/>
        <p:txBody>
          <a:bodyPr/>
          <a:lstStyle/>
          <a:p>
            <a:fld id="{CD25FDD0-385D-494A-B344-2AEB1DD3087C}" type="slidenum">
              <a:rPr lang="en-US" smtClean="0"/>
              <a:t>‹#›</a:t>
            </a:fld>
            <a:endParaRPr lang="en-US"/>
          </a:p>
        </p:txBody>
      </p:sp>
    </p:spTree>
    <p:extLst>
      <p:ext uri="{BB962C8B-B14F-4D97-AF65-F5344CB8AC3E}">
        <p14:creationId xmlns:p14="http://schemas.microsoft.com/office/powerpoint/2010/main" val="1564461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2BF9E8-1577-0265-5934-60C26ACA0F4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1870186-1A05-5578-22FE-607878FE4EB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399632E-D66D-7BCB-18A5-E71C1F4AA8EB}"/>
              </a:ext>
            </a:extLst>
          </p:cNvPr>
          <p:cNvSpPr>
            <a:spLocks noGrp="1"/>
          </p:cNvSpPr>
          <p:nvPr>
            <p:ph type="dt" sz="half" idx="10"/>
          </p:nvPr>
        </p:nvSpPr>
        <p:spPr/>
        <p:txBody>
          <a:bodyPr/>
          <a:lstStyle/>
          <a:p>
            <a:fld id="{6A3553B4-03B8-4CC9-A340-7AD8A3D22438}" type="datetimeFigureOut">
              <a:rPr lang="en-US" smtClean="0"/>
              <a:t>9/11/2026</a:t>
            </a:fld>
            <a:endParaRPr lang="en-US"/>
          </a:p>
        </p:txBody>
      </p:sp>
      <p:sp>
        <p:nvSpPr>
          <p:cNvPr id="5" name="Footer Placeholder 4">
            <a:extLst>
              <a:ext uri="{FF2B5EF4-FFF2-40B4-BE49-F238E27FC236}">
                <a16:creationId xmlns:a16="http://schemas.microsoft.com/office/drawing/2014/main" id="{FF7E0996-8798-3219-A8AC-4EFB40A85ED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962AF2D-4AD9-2A5C-BB07-B95CA6EB291D}"/>
              </a:ext>
            </a:extLst>
          </p:cNvPr>
          <p:cNvSpPr>
            <a:spLocks noGrp="1"/>
          </p:cNvSpPr>
          <p:nvPr>
            <p:ph type="sldNum" sz="quarter" idx="12"/>
          </p:nvPr>
        </p:nvSpPr>
        <p:spPr/>
        <p:txBody>
          <a:bodyPr/>
          <a:lstStyle/>
          <a:p>
            <a:fld id="{CD25FDD0-385D-494A-B344-2AEB1DD3087C}" type="slidenum">
              <a:rPr lang="en-US" smtClean="0"/>
              <a:t>‹#›</a:t>
            </a:fld>
            <a:endParaRPr lang="en-US"/>
          </a:p>
        </p:txBody>
      </p:sp>
    </p:spTree>
    <p:extLst>
      <p:ext uri="{BB962C8B-B14F-4D97-AF65-F5344CB8AC3E}">
        <p14:creationId xmlns:p14="http://schemas.microsoft.com/office/powerpoint/2010/main" val="36918658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36281B-396B-665D-A3E8-07CFA357BB3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A32759F-A5D5-4193-71BA-81F309C8A23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F9557A0-991B-7E64-E8B6-1B18768368D0}"/>
              </a:ext>
            </a:extLst>
          </p:cNvPr>
          <p:cNvSpPr>
            <a:spLocks noGrp="1"/>
          </p:cNvSpPr>
          <p:nvPr>
            <p:ph type="dt" sz="half" idx="10"/>
          </p:nvPr>
        </p:nvSpPr>
        <p:spPr/>
        <p:txBody>
          <a:bodyPr/>
          <a:lstStyle/>
          <a:p>
            <a:fld id="{6A3553B4-03B8-4CC9-A340-7AD8A3D22438}" type="datetimeFigureOut">
              <a:rPr lang="en-US" smtClean="0"/>
              <a:t>9/11/2026</a:t>
            </a:fld>
            <a:endParaRPr lang="en-US"/>
          </a:p>
        </p:txBody>
      </p:sp>
      <p:sp>
        <p:nvSpPr>
          <p:cNvPr id="5" name="Footer Placeholder 4">
            <a:extLst>
              <a:ext uri="{FF2B5EF4-FFF2-40B4-BE49-F238E27FC236}">
                <a16:creationId xmlns:a16="http://schemas.microsoft.com/office/drawing/2014/main" id="{2383F27F-9EDE-FF4D-B988-9D473D54324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429CAC-47FB-2F68-9159-0D4139FC573B}"/>
              </a:ext>
            </a:extLst>
          </p:cNvPr>
          <p:cNvSpPr>
            <a:spLocks noGrp="1"/>
          </p:cNvSpPr>
          <p:nvPr>
            <p:ph type="sldNum" sz="quarter" idx="12"/>
          </p:nvPr>
        </p:nvSpPr>
        <p:spPr/>
        <p:txBody>
          <a:bodyPr/>
          <a:lstStyle/>
          <a:p>
            <a:fld id="{CD25FDD0-385D-494A-B344-2AEB1DD3087C}" type="slidenum">
              <a:rPr lang="en-US" smtClean="0"/>
              <a:t>‹#›</a:t>
            </a:fld>
            <a:endParaRPr lang="en-US"/>
          </a:p>
        </p:txBody>
      </p:sp>
    </p:spTree>
    <p:extLst>
      <p:ext uri="{BB962C8B-B14F-4D97-AF65-F5344CB8AC3E}">
        <p14:creationId xmlns:p14="http://schemas.microsoft.com/office/powerpoint/2010/main" val="20589859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5416C-A808-A16C-D1EA-D9186DD3A31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9F678A1-3303-81D2-9E78-8BCF46F741A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748B52E-937D-28D9-CBBC-2B30913FBC3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E17058C-38CD-B283-0879-404099B9EE36}"/>
              </a:ext>
            </a:extLst>
          </p:cNvPr>
          <p:cNvSpPr>
            <a:spLocks noGrp="1"/>
          </p:cNvSpPr>
          <p:nvPr>
            <p:ph type="dt" sz="half" idx="10"/>
          </p:nvPr>
        </p:nvSpPr>
        <p:spPr/>
        <p:txBody>
          <a:bodyPr/>
          <a:lstStyle/>
          <a:p>
            <a:fld id="{6A3553B4-03B8-4CC9-A340-7AD8A3D22438}" type="datetimeFigureOut">
              <a:rPr lang="en-US" smtClean="0"/>
              <a:t>9/11/2026</a:t>
            </a:fld>
            <a:endParaRPr lang="en-US"/>
          </a:p>
        </p:txBody>
      </p:sp>
      <p:sp>
        <p:nvSpPr>
          <p:cNvPr id="6" name="Footer Placeholder 5">
            <a:extLst>
              <a:ext uri="{FF2B5EF4-FFF2-40B4-BE49-F238E27FC236}">
                <a16:creationId xmlns:a16="http://schemas.microsoft.com/office/drawing/2014/main" id="{ED3934C6-9D74-C5D2-1039-08D6AF5F14E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91B69B9-5223-A078-8B97-3BAC77F600F9}"/>
              </a:ext>
            </a:extLst>
          </p:cNvPr>
          <p:cNvSpPr>
            <a:spLocks noGrp="1"/>
          </p:cNvSpPr>
          <p:nvPr>
            <p:ph type="sldNum" sz="quarter" idx="12"/>
          </p:nvPr>
        </p:nvSpPr>
        <p:spPr/>
        <p:txBody>
          <a:bodyPr/>
          <a:lstStyle/>
          <a:p>
            <a:fld id="{CD25FDD0-385D-494A-B344-2AEB1DD3087C}" type="slidenum">
              <a:rPr lang="en-US" smtClean="0"/>
              <a:t>‹#›</a:t>
            </a:fld>
            <a:endParaRPr lang="en-US"/>
          </a:p>
        </p:txBody>
      </p:sp>
    </p:spTree>
    <p:extLst>
      <p:ext uri="{BB962C8B-B14F-4D97-AF65-F5344CB8AC3E}">
        <p14:creationId xmlns:p14="http://schemas.microsoft.com/office/powerpoint/2010/main" val="41012393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2E654D-2B7A-A786-BE51-0792A8CFDD2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C6F12F9-D917-6183-CD41-99D7BD3D8C1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3A94ACE-A4FE-C441-7ADD-70D733EE08D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8CCDDAA-48FA-59C1-D53C-9BEC0C0BFE5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BE336EA-FBBF-CC8A-BC5B-003764BC7E3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7F28237-9AC0-806F-15BF-0C32B1B613CA}"/>
              </a:ext>
            </a:extLst>
          </p:cNvPr>
          <p:cNvSpPr>
            <a:spLocks noGrp="1"/>
          </p:cNvSpPr>
          <p:nvPr>
            <p:ph type="dt" sz="half" idx="10"/>
          </p:nvPr>
        </p:nvSpPr>
        <p:spPr/>
        <p:txBody>
          <a:bodyPr/>
          <a:lstStyle/>
          <a:p>
            <a:fld id="{6A3553B4-03B8-4CC9-A340-7AD8A3D22438}" type="datetimeFigureOut">
              <a:rPr lang="en-US" smtClean="0"/>
              <a:t>9/11/2026</a:t>
            </a:fld>
            <a:endParaRPr lang="en-US"/>
          </a:p>
        </p:txBody>
      </p:sp>
      <p:sp>
        <p:nvSpPr>
          <p:cNvPr id="8" name="Footer Placeholder 7">
            <a:extLst>
              <a:ext uri="{FF2B5EF4-FFF2-40B4-BE49-F238E27FC236}">
                <a16:creationId xmlns:a16="http://schemas.microsoft.com/office/drawing/2014/main" id="{BA425AE9-9808-C717-2885-E43A6551577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6E140FD-F900-1DDE-1DBC-0D1CF6A8B4D1}"/>
              </a:ext>
            </a:extLst>
          </p:cNvPr>
          <p:cNvSpPr>
            <a:spLocks noGrp="1"/>
          </p:cNvSpPr>
          <p:nvPr>
            <p:ph type="sldNum" sz="quarter" idx="12"/>
          </p:nvPr>
        </p:nvSpPr>
        <p:spPr/>
        <p:txBody>
          <a:bodyPr/>
          <a:lstStyle/>
          <a:p>
            <a:fld id="{CD25FDD0-385D-494A-B344-2AEB1DD3087C}" type="slidenum">
              <a:rPr lang="en-US" smtClean="0"/>
              <a:t>‹#›</a:t>
            </a:fld>
            <a:endParaRPr lang="en-US"/>
          </a:p>
        </p:txBody>
      </p:sp>
    </p:spTree>
    <p:extLst>
      <p:ext uri="{BB962C8B-B14F-4D97-AF65-F5344CB8AC3E}">
        <p14:creationId xmlns:p14="http://schemas.microsoft.com/office/powerpoint/2010/main" val="8771927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26F1FC-AA15-FA04-FAA2-56D3337DF56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7124427-E405-4D4A-07E7-EB4A3CE31FB3}"/>
              </a:ext>
            </a:extLst>
          </p:cNvPr>
          <p:cNvSpPr>
            <a:spLocks noGrp="1"/>
          </p:cNvSpPr>
          <p:nvPr>
            <p:ph type="dt" sz="half" idx="10"/>
          </p:nvPr>
        </p:nvSpPr>
        <p:spPr/>
        <p:txBody>
          <a:bodyPr/>
          <a:lstStyle/>
          <a:p>
            <a:fld id="{6A3553B4-03B8-4CC9-A340-7AD8A3D22438}" type="datetimeFigureOut">
              <a:rPr lang="en-US" smtClean="0"/>
              <a:t>9/11/2026</a:t>
            </a:fld>
            <a:endParaRPr lang="en-US"/>
          </a:p>
        </p:txBody>
      </p:sp>
      <p:sp>
        <p:nvSpPr>
          <p:cNvPr id="4" name="Footer Placeholder 3">
            <a:extLst>
              <a:ext uri="{FF2B5EF4-FFF2-40B4-BE49-F238E27FC236}">
                <a16:creationId xmlns:a16="http://schemas.microsoft.com/office/drawing/2014/main" id="{3AE2BED7-D026-E745-5D30-9285A482A7C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0AE4926-EF78-41A2-6999-373E23CB93BC}"/>
              </a:ext>
            </a:extLst>
          </p:cNvPr>
          <p:cNvSpPr>
            <a:spLocks noGrp="1"/>
          </p:cNvSpPr>
          <p:nvPr>
            <p:ph type="sldNum" sz="quarter" idx="12"/>
          </p:nvPr>
        </p:nvSpPr>
        <p:spPr/>
        <p:txBody>
          <a:bodyPr/>
          <a:lstStyle/>
          <a:p>
            <a:fld id="{CD25FDD0-385D-494A-B344-2AEB1DD3087C}" type="slidenum">
              <a:rPr lang="en-US" smtClean="0"/>
              <a:t>‹#›</a:t>
            </a:fld>
            <a:endParaRPr lang="en-US"/>
          </a:p>
        </p:txBody>
      </p:sp>
    </p:spTree>
    <p:extLst>
      <p:ext uri="{BB962C8B-B14F-4D97-AF65-F5344CB8AC3E}">
        <p14:creationId xmlns:p14="http://schemas.microsoft.com/office/powerpoint/2010/main" val="12915218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FED4FC9-9FA3-3829-CB9C-BF03E3DBA8FC}"/>
              </a:ext>
            </a:extLst>
          </p:cNvPr>
          <p:cNvSpPr>
            <a:spLocks noGrp="1"/>
          </p:cNvSpPr>
          <p:nvPr>
            <p:ph type="dt" sz="half" idx="10"/>
          </p:nvPr>
        </p:nvSpPr>
        <p:spPr/>
        <p:txBody>
          <a:bodyPr/>
          <a:lstStyle/>
          <a:p>
            <a:fld id="{6A3553B4-03B8-4CC9-A340-7AD8A3D22438}" type="datetimeFigureOut">
              <a:rPr lang="en-US" smtClean="0"/>
              <a:t>9/11/2026</a:t>
            </a:fld>
            <a:endParaRPr lang="en-US"/>
          </a:p>
        </p:txBody>
      </p:sp>
      <p:sp>
        <p:nvSpPr>
          <p:cNvPr id="3" name="Footer Placeholder 2">
            <a:extLst>
              <a:ext uri="{FF2B5EF4-FFF2-40B4-BE49-F238E27FC236}">
                <a16:creationId xmlns:a16="http://schemas.microsoft.com/office/drawing/2014/main" id="{F605E1A9-B942-5F4A-A92B-722DB33B9F4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30B5A0F-663A-39CE-CEBD-7DDE578D8315}"/>
              </a:ext>
            </a:extLst>
          </p:cNvPr>
          <p:cNvSpPr>
            <a:spLocks noGrp="1"/>
          </p:cNvSpPr>
          <p:nvPr>
            <p:ph type="sldNum" sz="quarter" idx="12"/>
          </p:nvPr>
        </p:nvSpPr>
        <p:spPr/>
        <p:txBody>
          <a:bodyPr/>
          <a:lstStyle/>
          <a:p>
            <a:fld id="{CD25FDD0-385D-494A-B344-2AEB1DD3087C}" type="slidenum">
              <a:rPr lang="en-US" smtClean="0"/>
              <a:t>‹#›</a:t>
            </a:fld>
            <a:endParaRPr lang="en-US"/>
          </a:p>
        </p:txBody>
      </p:sp>
    </p:spTree>
    <p:extLst>
      <p:ext uri="{BB962C8B-B14F-4D97-AF65-F5344CB8AC3E}">
        <p14:creationId xmlns:p14="http://schemas.microsoft.com/office/powerpoint/2010/main" val="3560264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6AFB52-D3F6-BA75-60DA-3CEB2A237E9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62D04B5-2A45-9422-ED76-5C4D3EF0407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96DB6E4-9B4C-A87D-588D-0EB0AA170B7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99FE6F2-6B56-C11F-7212-58E45A0FEB7F}"/>
              </a:ext>
            </a:extLst>
          </p:cNvPr>
          <p:cNvSpPr>
            <a:spLocks noGrp="1"/>
          </p:cNvSpPr>
          <p:nvPr>
            <p:ph type="dt" sz="half" idx="10"/>
          </p:nvPr>
        </p:nvSpPr>
        <p:spPr/>
        <p:txBody>
          <a:bodyPr/>
          <a:lstStyle/>
          <a:p>
            <a:fld id="{6A3553B4-03B8-4CC9-A340-7AD8A3D22438}" type="datetimeFigureOut">
              <a:rPr lang="en-US" smtClean="0"/>
              <a:t>9/11/2026</a:t>
            </a:fld>
            <a:endParaRPr lang="en-US"/>
          </a:p>
        </p:txBody>
      </p:sp>
      <p:sp>
        <p:nvSpPr>
          <p:cNvPr id="6" name="Footer Placeholder 5">
            <a:extLst>
              <a:ext uri="{FF2B5EF4-FFF2-40B4-BE49-F238E27FC236}">
                <a16:creationId xmlns:a16="http://schemas.microsoft.com/office/drawing/2014/main" id="{A6AA59C1-7312-6069-1B16-C83292919D2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1222EFC-6061-E330-5445-479D31B715A4}"/>
              </a:ext>
            </a:extLst>
          </p:cNvPr>
          <p:cNvSpPr>
            <a:spLocks noGrp="1"/>
          </p:cNvSpPr>
          <p:nvPr>
            <p:ph type="sldNum" sz="quarter" idx="12"/>
          </p:nvPr>
        </p:nvSpPr>
        <p:spPr/>
        <p:txBody>
          <a:bodyPr/>
          <a:lstStyle/>
          <a:p>
            <a:fld id="{CD25FDD0-385D-494A-B344-2AEB1DD3087C}" type="slidenum">
              <a:rPr lang="en-US" smtClean="0"/>
              <a:t>‹#›</a:t>
            </a:fld>
            <a:endParaRPr lang="en-US"/>
          </a:p>
        </p:txBody>
      </p:sp>
    </p:spTree>
    <p:extLst>
      <p:ext uri="{BB962C8B-B14F-4D97-AF65-F5344CB8AC3E}">
        <p14:creationId xmlns:p14="http://schemas.microsoft.com/office/powerpoint/2010/main" val="42430825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B2E937-499D-4713-6E31-2C506B9BEA8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1DD866C-5283-F1C9-D40D-5A8823056AC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CCAFA3D-6D91-991A-E8D0-836858EC2AC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B61D719-86DB-3C56-7303-78EB8F1950B8}"/>
              </a:ext>
            </a:extLst>
          </p:cNvPr>
          <p:cNvSpPr>
            <a:spLocks noGrp="1"/>
          </p:cNvSpPr>
          <p:nvPr>
            <p:ph type="dt" sz="half" idx="10"/>
          </p:nvPr>
        </p:nvSpPr>
        <p:spPr/>
        <p:txBody>
          <a:bodyPr/>
          <a:lstStyle/>
          <a:p>
            <a:fld id="{6A3553B4-03B8-4CC9-A340-7AD8A3D22438}" type="datetimeFigureOut">
              <a:rPr lang="en-US" smtClean="0"/>
              <a:t>9/11/2026</a:t>
            </a:fld>
            <a:endParaRPr lang="en-US"/>
          </a:p>
        </p:txBody>
      </p:sp>
      <p:sp>
        <p:nvSpPr>
          <p:cNvPr id="6" name="Footer Placeholder 5">
            <a:extLst>
              <a:ext uri="{FF2B5EF4-FFF2-40B4-BE49-F238E27FC236}">
                <a16:creationId xmlns:a16="http://schemas.microsoft.com/office/drawing/2014/main" id="{86374EB4-DA9D-E6BA-1FA1-C9D76DFD26F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20EBC99-39ED-BC63-833C-4D9078AED953}"/>
              </a:ext>
            </a:extLst>
          </p:cNvPr>
          <p:cNvSpPr>
            <a:spLocks noGrp="1"/>
          </p:cNvSpPr>
          <p:nvPr>
            <p:ph type="sldNum" sz="quarter" idx="12"/>
          </p:nvPr>
        </p:nvSpPr>
        <p:spPr/>
        <p:txBody>
          <a:bodyPr/>
          <a:lstStyle/>
          <a:p>
            <a:fld id="{CD25FDD0-385D-494A-B344-2AEB1DD3087C}" type="slidenum">
              <a:rPr lang="en-US" smtClean="0"/>
              <a:t>‹#›</a:t>
            </a:fld>
            <a:endParaRPr lang="en-US"/>
          </a:p>
        </p:txBody>
      </p:sp>
    </p:spTree>
    <p:extLst>
      <p:ext uri="{BB962C8B-B14F-4D97-AF65-F5344CB8AC3E}">
        <p14:creationId xmlns:p14="http://schemas.microsoft.com/office/powerpoint/2010/main" val="648529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DAE130-E83B-7FC1-39C6-4F3A0482C56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C787BF2-70C7-44D3-49E7-166B8DEA8A2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1945ABA-7042-56CE-CC81-F0AE04CF4406}"/>
              </a:ext>
            </a:extLst>
          </p:cNvPr>
          <p:cNvSpPr>
            <a:spLocks noGrp="1"/>
          </p:cNvSpPr>
          <p:nvPr>
            <p:ph type="dt" sz="half" idx="10"/>
          </p:nvPr>
        </p:nvSpPr>
        <p:spPr/>
        <p:txBody>
          <a:bodyPr/>
          <a:lstStyle/>
          <a:p>
            <a:fld id="{6A3553B4-03B8-4CC9-A340-7AD8A3D22438}" type="datetimeFigureOut">
              <a:rPr lang="en-US" smtClean="0"/>
              <a:t>9/11/2026</a:t>
            </a:fld>
            <a:endParaRPr lang="en-US"/>
          </a:p>
        </p:txBody>
      </p:sp>
      <p:sp>
        <p:nvSpPr>
          <p:cNvPr id="5" name="Footer Placeholder 4">
            <a:extLst>
              <a:ext uri="{FF2B5EF4-FFF2-40B4-BE49-F238E27FC236}">
                <a16:creationId xmlns:a16="http://schemas.microsoft.com/office/drawing/2014/main" id="{90097204-EDA8-2C2F-F1CE-6DC760DED29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9450B33-3641-1A01-42E2-FE9E2A1F48E1}"/>
              </a:ext>
            </a:extLst>
          </p:cNvPr>
          <p:cNvSpPr>
            <a:spLocks noGrp="1"/>
          </p:cNvSpPr>
          <p:nvPr>
            <p:ph type="sldNum" sz="quarter" idx="12"/>
          </p:nvPr>
        </p:nvSpPr>
        <p:spPr/>
        <p:txBody>
          <a:bodyPr/>
          <a:lstStyle/>
          <a:p>
            <a:fld id="{CD25FDD0-385D-494A-B344-2AEB1DD3087C}" type="slidenum">
              <a:rPr lang="en-US" smtClean="0"/>
              <a:t>‹#›</a:t>
            </a:fld>
            <a:endParaRPr lang="en-US"/>
          </a:p>
        </p:txBody>
      </p:sp>
    </p:spTree>
    <p:extLst>
      <p:ext uri="{BB962C8B-B14F-4D97-AF65-F5344CB8AC3E}">
        <p14:creationId xmlns:p14="http://schemas.microsoft.com/office/powerpoint/2010/main" val="29992882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0A7B96D-667D-F0F2-33C9-FC73D905A4F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C3EE30B-358D-4D07-9C6C-EFC9301E5B4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40C52B1-94CE-CB9B-2DCB-F270A272E423}"/>
              </a:ext>
            </a:extLst>
          </p:cNvPr>
          <p:cNvSpPr>
            <a:spLocks noGrp="1"/>
          </p:cNvSpPr>
          <p:nvPr>
            <p:ph type="dt" sz="half" idx="10"/>
          </p:nvPr>
        </p:nvSpPr>
        <p:spPr/>
        <p:txBody>
          <a:bodyPr/>
          <a:lstStyle/>
          <a:p>
            <a:fld id="{6A3553B4-03B8-4CC9-A340-7AD8A3D22438}" type="datetimeFigureOut">
              <a:rPr lang="en-US" smtClean="0"/>
              <a:t>9/11/2026</a:t>
            </a:fld>
            <a:endParaRPr lang="en-US"/>
          </a:p>
        </p:txBody>
      </p:sp>
      <p:sp>
        <p:nvSpPr>
          <p:cNvPr id="5" name="Footer Placeholder 4">
            <a:extLst>
              <a:ext uri="{FF2B5EF4-FFF2-40B4-BE49-F238E27FC236}">
                <a16:creationId xmlns:a16="http://schemas.microsoft.com/office/drawing/2014/main" id="{9E9130DC-BE99-0651-B268-71137CB99F7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39FE32F-E541-5B89-872B-272A25B554DE}"/>
              </a:ext>
            </a:extLst>
          </p:cNvPr>
          <p:cNvSpPr>
            <a:spLocks noGrp="1"/>
          </p:cNvSpPr>
          <p:nvPr>
            <p:ph type="sldNum" sz="quarter" idx="12"/>
          </p:nvPr>
        </p:nvSpPr>
        <p:spPr/>
        <p:txBody>
          <a:bodyPr/>
          <a:lstStyle/>
          <a:p>
            <a:fld id="{CD25FDD0-385D-494A-B344-2AEB1DD3087C}" type="slidenum">
              <a:rPr lang="en-US" smtClean="0"/>
              <a:t>‹#›</a:t>
            </a:fld>
            <a:endParaRPr lang="en-US"/>
          </a:p>
        </p:txBody>
      </p:sp>
    </p:spTree>
    <p:extLst>
      <p:ext uri="{BB962C8B-B14F-4D97-AF65-F5344CB8AC3E}">
        <p14:creationId xmlns:p14="http://schemas.microsoft.com/office/powerpoint/2010/main" val="32726935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DBAC915-7EB0-00D9-9617-DBA4B4B848B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75C2742-B899-69CF-48EB-FC82EC42F58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3148F7E-265D-DD70-F72A-759592AD743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A3553B4-03B8-4CC9-A340-7AD8A3D22438}" type="datetimeFigureOut">
              <a:rPr lang="en-US" smtClean="0"/>
              <a:t>9/11/2026</a:t>
            </a:fld>
            <a:endParaRPr lang="en-US"/>
          </a:p>
        </p:txBody>
      </p:sp>
      <p:sp>
        <p:nvSpPr>
          <p:cNvPr id="5" name="Footer Placeholder 4">
            <a:extLst>
              <a:ext uri="{FF2B5EF4-FFF2-40B4-BE49-F238E27FC236}">
                <a16:creationId xmlns:a16="http://schemas.microsoft.com/office/drawing/2014/main" id="{D5B16AC8-4DD6-16A0-4684-5AEF91A06B4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1101FC13-C4A4-A022-455A-85EB4976842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D25FDD0-385D-494A-B344-2AEB1DD3087C}" type="slidenum">
              <a:rPr lang="en-US" smtClean="0"/>
              <a:t>‹#›</a:t>
            </a:fld>
            <a:endParaRPr lang="en-US"/>
          </a:p>
        </p:txBody>
      </p:sp>
    </p:spTree>
    <p:extLst>
      <p:ext uri="{BB962C8B-B14F-4D97-AF65-F5344CB8AC3E}">
        <p14:creationId xmlns:p14="http://schemas.microsoft.com/office/powerpoint/2010/main" val="223881101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youtu.be/u63d4aRjeDw" TargetMode="Externa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hyperlink" Target="https://www.youtube.com/watch?v=28ckvW7FJsM" TargetMode="External"/><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8674E7-2FC1-9A93-26A3-53CB01146D3C}"/>
              </a:ext>
            </a:extLst>
          </p:cNvPr>
          <p:cNvSpPr>
            <a:spLocks noGrp="1"/>
          </p:cNvSpPr>
          <p:nvPr>
            <p:ph type="ctrTitle"/>
          </p:nvPr>
        </p:nvSpPr>
        <p:spPr/>
        <p:txBody>
          <a:bodyPr>
            <a:normAutofit/>
          </a:bodyPr>
          <a:lstStyle/>
          <a:p>
            <a:r>
              <a:rPr lang="en-US" dirty="0"/>
              <a:t>Q&amp;A Response</a:t>
            </a:r>
            <a:br>
              <a:rPr lang="en-US" dirty="0"/>
            </a:br>
            <a:r>
              <a:rPr lang="en-US" sz="3300" dirty="0"/>
              <a:t>Absorber Component modeling</a:t>
            </a:r>
          </a:p>
        </p:txBody>
      </p:sp>
      <p:sp>
        <p:nvSpPr>
          <p:cNvPr id="3" name="Subtitle 2">
            <a:extLst>
              <a:ext uri="{FF2B5EF4-FFF2-40B4-BE49-F238E27FC236}">
                <a16:creationId xmlns:a16="http://schemas.microsoft.com/office/drawing/2014/main" id="{3C612A4E-A682-33C8-B422-E63238E1A162}"/>
              </a:ext>
            </a:extLst>
          </p:cNvPr>
          <p:cNvSpPr>
            <a:spLocks noGrp="1"/>
          </p:cNvSpPr>
          <p:nvPr>
            <p:ph type="subTitle" idx="1"/>
          </p:nvPr>
        </p:nvSpPr>
        <p:spPr>
          <a:xfrm>
            <a:off x="4342645" y="3509963"/>
            <a:ext cx="3506709" cy="571610"/>
          </a:xfrm>
        </p:spPr>
        <p:txBody>
          <a:bodyPr/>
          <a:lstStyle/>
          <a:p>
            <a:r>
              <a:rPr lang="en-US" dirty="0"/>
              <a:t>Colby  Magee</a:t>
            </a:r>
          </a:p>
        </p:txBody>
      </p:sp>
    </p:spTree>
    <p:extLst>
      <p:ext uri="{BB962C8B-B14F-4D97-AF65-F5344CB8AC3E}">
        <p14:creationId xmlns:p14="http://schemas.microsoft.com/office/powerpoint/2010/main" val="31530191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5F879AC3-D4CE-493C-ADC7-06205677F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w="0"/>
              <a:solidFill>
                <a:schemeClr val="accent1"/>
              </a:solidFill>
              <a:effectLst>
                <a:outerShdw blurRad="38100" dist="25400" dir="5400000" algn="ctr" rotWithShape="0">
                  <a:srgbClr val="6E747A">
                    <a:alpha val="43000"/>
                  </a:srgbClr>
                </a:outerShdw>
              </a:effectLst>
            </a:endParaRPr>
          </a:p>
        </p:txBody>
      </p:sp>
      <p:sp>
        <p:nvSpPr>
          <p:cNvPr id="9" name="Freeform: Shape 8">
            <a:extLst>
              <a:ext uri="{FF2B5EF4-FFF2-40B4-BE49-F238E27FC236}">
                <a16:creationId xmlns:a16="http://schemas.microsoft.com/office/drawing/2014/main" id="{736F0DFD-0954-464F-BF12-DD2E6F6E03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983504" cy="6858000"/>
          </a:xfrm>
          <a:custGeom>
            <a:avLst/>
            <a:gdLst>
              <a:gd name="connsiteX0" fmla="*/ 0 w 1983504"/>
              <a:gd name="connsiteY0" fmla="*/ 0 h 6858000"/>
              <a:gd name="connsiteX1" fmla="*/ 1376658 w 1983504"/>
              <a:gd name="connsiteY1" fmla="*/ 0 h 6858000"/>
              <a:gd name="connsiteX2" fmla="*/ 1690650 w 1983504"/>
              <a:gd name="connsiteY2" fmla="*/ 110269 h 6858000"/>
              <a:gd name="connsiteX3" fmla="*/ 1645361 w 1983504"/>
              <a:gd name="connsiteY3" fmla="*/ 135168 h 6858000"/>
              <a:gd name="connsiteX4" fmla="*/ 1373640 w 1983504"/>
              <a:gd name="connsiteY4" fmla="*/ 71141 h 6858000"/>
              <a:gd name="connsiteX5" fmla="*/ 1319295 w 1983504"/>
              <a:gd name="connsiteY5" fmla="*/ 88927 h 6858000"/>
              <a:gd name="connsiteX6" fmla="*/ 1346468 w 1983504"/>
              <a:gd name="connsiteY6" fmla="*/ 163625 h 6858000"/>
              <a:gd name="connsiteX7" fmla="*/ 1464213 w 1983504"/>
              <a:gd name="connsiteY7" fmla="*/ 192082 h 6858000"/>
              <a:gd name="connsiteX8" fmla="*/ 1648381 w 1983504"/>
              <a:gd name="connsiteY8" fmla="*/ 373491 h 6858000"/>
              <a:gd name="connsiteX9" fmla="*/ 1370620 w 1983504"/>
              <a:gd name="connsiteY9" fmla="*/ 352148 h 6858000"/>
              <a:gd name="connsiteX10" fmla="*/ 1322314 w 1983504"/>
              <a:gd name="connsiteY10" fmla="*/ 394834 h 6858000"/>
              <a:gd name="connsiteX11" fmla="*/ 1304199 w 1983504"/>
              <a:gd name="connsiteY11" fmla="*/ 451747 h 6858000"/>
              <a:gd name="connsiteX12" fmla="*/ 1222682 w 1983504"/>
              <a:gd name="connsiteY12" fmla="*/ 359262 h 6858000"/>
              <a:gd name="connsiteX13" fmla="*/ 1153242 w 1983504"/>
              <a:gd name="connsiteY13" fmla="*/ 334364 h 6858000"/>
              <a:gd name="connsiteX14" fmla="*/ 1132108 w 1983504"/>
              <a:gd name="connsiteY14" fmla="*/ 416176 h 6858000"/>
              <a:gd name="connsiteX15" fmla="*/ 1195509 w 1983504"/>
              <a:gd name="connsiteY15" fmla="*/ 505101 h 6858000"/>
              <a:gd name="connsiteX16" fmla="*/ 1364582 w 1983504"/>
              <a:gd name="connsiteY16" fmla="*/ 558458 h 6858000"/>
              <a:gd name="connsiteX17" fmla="*/ 1183434 w 1983504"/>
              <a:gd name="connsiteY17" fmla="*/ 558458 h 6858000"/>
              <a:gd name="connsiteX18" fmla="*/ 975114 w 1983504"/>
              <a:gd name="connsiteY18" fmla="*/ 522887 h 6858000"/>
              <a:gd name="connsiteX19" fmla="*/ 754716 w 1983504"/>
              <a:gd name="connsiteY19" fmla="*/ 533558 h 6858000"/>
              <a:gd name="connsiteX20" fmla="*/ 546395 w 1983504"/>
              <a:gd name="connsiteY20" fmla="*/ 462417 h 6858000"/>
              <a:gd name="connsiteX21" fmla="*/ 335056 w 1983504"/>
              <a:gd name="connsiteY21" fmla="*/ 465975 h 6858000"/>
              <a:gd name="connsiteX22" fmla="*/ 1270988 w 1983504"/>
              <a:gd name="connsiteY22" fmla="*/ 910606 h 6858000"/>
              <a:gd name="connsiteX23" fmla="*/ 1225701 w 1983504"/>
              <a:gd name="connsiteY23" fmla="*/ 921277 h 6858000"/>
              <a:gd name="connsiteX24" fmla="*/ 1165318 w 1983504"/>
              <a:gd name="connsiteY24" fmla="*/ 949734 h 6858000"/>
              <a:gd name="connsiteX25" fmla="*/ 1210606 w 1983504"/>
              <a:gd name="connsiteY25" fmla="*/ 1006647 h 6858000"/>
              <a:gd name="connsiteX26" fmla="*/ 1455156 w 1983504"/>
              <a:gd name="connsiteY26" fmla="*/ 1113358 h 6858000"/>
              <a:gd name="connsiteX27" fmla="*/ 1515538 w 1983504"/>
              <a:gd name="connsiteY27" fmla="*/ 1220069 h 6858000"/>
              <a:gd name="connsiteX28" fmla="*/ 1440060 w 1983504"/>
              <a:gd name="connsiteY28" fmla="*/ 1209399 h 6858000"/>
              <a:gd name="connsiteX29" fmla="*/ 1373640 w 1983504"/>
              <a:gd name="connsiteY29" fmla="*/ 1230741 h 6858000"/>
              <a:gd name="connsiteX30" fmla="*/ 1400810 w 1983504"/>
              <a:gd name="connsiteY30" fmla="*/ 1365909 h 6858000"/>
              <a:gd name="connsiteX31" fmla="*/ 1748012 w 1983504"/>
              <a:gd name="connsiteY31" fmla="*/ 1540204 h 6858000"/>
              <a:gd name="connsiteX32" fmla="*/ 1778203 w 1983504"/>
              <a:gd name="connsiteY32" fmla="*/ 1597117 h 6858000"/>
              <a:gd name="connsiteX33" fmla="*/ 1735936 w 1983504"/>
              <a:gd name="connsiteY33" fmla="*/ 1636245 h 6858000"/>
              <a:gd name="connsiteX34" fmla="*/ 1624228 w 1983504"/>
              <a:gd name="connsiteY34" fmla="*/ 1657587 h 6858000"/>
              <a:gd name="connsiteX35" fmla="*/ 1781223 w 1983504"/>
              <a:gd name="connsiteY35" fmla="*/ 1849668 h 6858000"/>
              <a:gd name="connsiteX36" fmla="*/ 1838587 w 1983504"/>
              <a:gd name="connsiteY36" fmla="*/ 1903025 h 6858000"/>
              <a:gd name="connsiteX37" fmla="*/ 1938218 w 1983504"/>
              <a:gd name="connsiteY37" fmla="*/ 1984836 h 6858000"/>
              <a:gd name="connsiteX38" fmla="*/ 1938218 w 1983504"/>
              <a:gd name="connsiteY38" fmla="*/ 2013292 h 6858000"/>
              <a:gd name="connsiteX39" fmla="*/ 1805376 w 1983504"/>
              <a:gd name="connsiteY39" fmla="*/ 2102219 h 6858000"/>
              <a:gd name="connsiteX40" fmla="*/ 1563844 w 1983504"/>
              <a:gd name="connsiteY40" fmla="*/ 2077320 h 6858000"/>
              <a:gd name="connsiteX41" fmla="*/ 1920104 w 1983504"/>
              <a:gd name="connsiteY41" fmla="*/ 2208931 h 6858000"/>
              <a:gd name="connsiteX42" fmla="*/ 766792 w 1983504"/>
              <a:gd name="connsiteY42" fmla="*/ 1892353 h 6858000"/>
              <a:gd name="connsiteX43" fmla="*/ 839252 w 1983504"/>
              <a:gd name="connsiteY43" fmla="*/ 1974165 h 6858000"/>
              <a:gd name="connsiteX44" fmla="*/ 1243816 w 1983504"/>
              <a:gd name="connsiteY44" fmla="*/ 2191146 h 6858000"/>
              <a:gd name="connsiteX45" fmla="*/ 1358543 w 1983504"/>
              <a:gd name="connsiteY45" fmla="*/ 2326314 h 6858000"/>
              <a:gd name="connsiteX46" fmla="*/ 1479310 w 1983504"/>
              <a:gd name="connsiteY46" fmla="*/ 2401012 h 6858000"/>
              <a:gd name="connsiteX47" fmla="*/ 1648381 w 1983504"/>
              <a:gd name="connsiteY47" fmla="*/ 2401012 h 6858000"/>
              <a:gd name="connsiteX48" fmla="*/ 1769146 w 1983504"/>
              <a:gd name="connsiteY48" fmla="*/ 2518395 h 6858000"/>
              <a:gd name="connsiteX49" fmla="*/ 1645361 w 1983504"/>
              <a:gd name="connsiteY49" fmla="*/ 2543294 h 6858000"/>
              <a:gd name="connsiteX50" fmla="*/ 1500444 w 1983504"/>
              <a:gd name="connsiteY50" fmla="*/ 2525509 h 6858000"/>
              <a:gd name="connsiteX51" fmla="*/ 1337410 w 1983504"/>
              <a:gd name="connsiteY51" fmla="*/ 2564636 h 6858000"/>
              <a:gd name="connsiteX52" fmla="*/ 1186452 w 1983504"/>
              <a:gd name="connsiteY52" fmla="*/ 2532623 h 6858000"/>
              <a:gd name="connsiteX53" fmla="*/ 1005304 w 1983504"/>
              <a:gd name="connsiteY53" fmla="*/ 2553965 h 6858000"/>
              <a:gd name="connsiteX54" fmla="*/ 947940 w 1983504"/>
              <a:gd name="connsiteY54" fmla="*/ 2692689 h 6858000"/>
              <a:gd name="connsiteX55" fmla="*/ 929826 w 1983504"/>
              <a:gd name="connsiteY55" fmla="*/ 2703362 h 6858000"/>
              <a:gd name="connsiteX56" fmla="*/ 594701 w 1983504"/>
              <a:gd name="connsiteY56" fmla="*/ 2923898 h 6858000"/>
              <a:gd name="connsiteX57" fmla="*/ 501108 w 1983504"/>
              <a:gd name="connsiteY57" fmla="*/ 2941684 h 6858000"/>
              <a:gd name="connsiteX58" fmla="*/ 1053610 w 1983504"/>
              <a:gd name="connsiteY58" fmla="*/ 3329402 h 6858000"/>
              <a:gd name="connsiteX59" fmla="*/ 682256 w 1983504"/>
              <a:gd name="connsiteY59" fmla="*/ 3229805 h 6858000"/>
              <a:gd name="connsiteX60" fmla="*/ 630932 w 1983504"/>
              <a:gd name="connsiteY60" fmla="*/ 3393429 h 6858000"/>
              <a:gd name="connsiteX61" fmla="*/ 806041 w 1983504"/>
              <a:gd name="connsiteY61" fmla="*/ 3539269 h 6858000"/>
              <a:gd name="connsiteX62" fmla="*/ 869444 w 1983504"/>
              <a:gd name="connsiteY62" fmla="*/ 3827390 h 6858000"/>
              <a:gd name="connsiteX63" fmla="*/ 839252 w 1983504"/>
              <a:gd name="connsiteY63" fmla="*/ 4090612 h 6858000"/>
              <a:gd name="connsiteX64" fmla="*/ 763774 w 1983504"/>
              <a:gd name="connsiteY64" fmla="*/ 4172424 h 6858000"/>
              <a:gd name="connsiteX65" fmla="*/ 655085 w 1983504"/>
              <a:gd name="connsiteY65" fmla="*/ 4321821 h 6858000"/>
              <a:gd name="connsiteX66" fmla="*/ 588662 w 1983504"/>
              <a:gd name="connsiteY66" fmla="*/ 4414305 h 6858000"/>
              <a:gd name="connsiteX67" fmla="*/ 356189 w 1983504"/>
              <a:gd name="connsiteY67" fmla="*/ 4378734 h 6858000"/>
              <a:gd name="connsiteX68" fmla="*/ 667160 w 1983504"/>
              <a:gd name="connsiteY68" fmla="*/ 4613499 h 6858000"/>
              <a:gd name="connsiteX69" fmla="*/ 416573 w 1983504"/>
              <a:gd name="connsiteY69" fmla="*/ 4585042 h 6858000"/>
              <a:gd name="connsiteX70" fmla="*/ 335056 w 1983504"/>
              <a:gd name="connsiteY70" fmla="*/ 4602828 h 6858000"/>
              <a:gd name="connsiteX71" fmla="*/ 380342 w 1983504"/>
              <a:gd name="connsiteY71" fmla="*/ 4677526 h 6858000"/>
              <a:gd name="connsiteX72" fmla="*/ 564510 w 1983504"/>
              <a:gd name="connsiteY72" fmla="*/ 4805580 h 6858000"/>
              <a:gd name="connsiteX73" fmla="*/ 944922 w 1983504"/>
              <a:gd name="connsiteY73" fmla="*/ 5154171 h 6858000"/>
              <a:gd name="connsiteX74" fmla="*/ 576586 w 1983504"/>
              <a:gd name="connsiteY74" fmla="*/ 4994104 h 6858000"/>
              <a:gd name="connsiteX75" fmla="*/ 963036 w 1983504"/>
              <a:gd name="connsiteY75" fmla="*/ 5353367 h 6858000"/>
              <a:gd name="connsiteX76" fmla="*/ 1047572 w 1983504"/>
              <a:gd name="connsiteY76" fmla="*/ 5474306 h 6858000"/>
              <a:gd name="connsiteX77" fmla="*/ 1222682 w 1983504"/>
              <a:gd name="connsiteY77" fmla="*/ 5769542 h 6858000"/>
              <a:gd name="connsiteX78" fmla="*/ 1213626 w 1983504"/>
              <a:gd name="connsiteY78" fmla="*/ 5801555 h 6858000"/>
              <a:gd name="connsiteX79" fmla="*/ 1014361 w 1983504"/>
              <a:gd name="connsiteY79" fmla="*/ 5755314 h 6858000"/>
              <a:gd name="connsiteX80" fmla="*/ 1274008 w 1983504"/>
              <a:gd name="connsiteY80" fmla="*/ 6004307 h 6858000"/>
              <a:gd name="connsiteX81" fmla="*/ 1542711 w 1983504"/>
              <a:gd name="connsiteY81" fmla="*/ 6196388 h 6858000"/>
              <a:gd name="connsiteX82" fmla="*/ 1352504 w 1983504"/>
              <a:gd name="connsiteY82" fmla="*/ 6167932 h 6858000"/>
              <a:gd name="connsiteX83" fmla="*/ 1089840 w 1983504"/>
              <a:gd name="connsiteY83" fmla="*/ 6057663 h 6858000"/>
              <a:gd name="connsiteX84" fmla="*/ 999266 w 1983504"/>
              <a:gd name="connsiteY84" fmla="*/ 6100347 h 6858000"/>
              <a:gd name="connsiteX85" fmla="*/ 1246836 w 1983504"/>
              <a:gd name="connsiteY85" fmla="*/ 6281757 h 6858000"/>
              <a:gd name="connsiteX86" fmla="*/ 1388735 w 1983504"/>
              <a:gd name="connsiteY86" fmla="*/ 6367127 h 6858000"/>
              <a:gd name="connsiteX87" fmla="*/ 1446099 w 1983504"/>
              <a:gd name="connsiteY87" fmla="*/ 6431153 h 6858000"/>
              <a:gd name="connsiteX88" fmla="*/ 1609132 w 1983504"/>
              <a:gd name="connsiteY88" fmla="*/ 6658805 h 6858000"/>
              <a:gd name="connsiteX89" fmla="*/ 1983504 w 1983504"/>
              <a:gd name="connsiteY89" fmla="*/ 6858000 h 6858000"/>
              <a:gd name="connsiteX90" fmla="*/ 0 w 1983504"/>
              <a:gd name="connsiteY9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1983504" h="6858000">
                <a:moveTo>
                  <a:pt x="0" y="0"/>
                </a:moveTo>
                <a:lnTo>
                  <a:pt x="1376658" y="0"/>
                </a:lnTo>
                <a:cubicBezTo>
                  <a:pt x="1482328" y="35571"/>
                  <a:pt x="1584980" y="78255"/>
                  <a:pt x="1690650" y="110269"/>
                </a:cubicBezTo>
                <a:cubicBezTo>
                  <a:pt x="1675553" y="145839"/>
                  <a:pt x="1660458" y="138725"/>
                  <a:pt x="1645361" y="135168"/>
                </a:cubicBezTo>
                <a:cubicBezTo>
                  <a:pt x="1554788" y="120941"/>
                  <a:pt x="1461194" y="110269"/>
                  <a:pt x="1373640" y="71141"/>
                </a:cubicBezTo>
                <a:cubicBezTo>
                  <a:pt x="1352504" y="64027"/>
                  <a:pt x="1328352" y="64027"/>
                  <a:pt x="1319295" y="88927"/>
                </a:cubicBezTo>
                <a:cubicBezTo>
                  <a:pt x="1304199" y="124497"/>
                  <a:pt x="1325332" y="145839"/>
                  <a:pt x="1346468" y="163625"/>
                </a:cubicBezTo>
                <a:cubicBezTo>
                  <a:pt x="1382696" y="195638"/>
                  <a:pt x="1424964" y="188525"/>
                  <a:pt x="1464213" y="192082"/>
                </a:cubicBezTo>
                <a:cubicBezTo>
                  <a:pt x="1572902" y="209867"/>
                  <a:pt x="1624228" y="259665"/>
                  <a:pt x="1648381" y="373491"/>
                </a:cubicBezTo>
                <a:cubicBezTo>
                  <a:pt x="1554788" y="327250"/>
                  <a:pt x="1461194" y="384162"/>
                  <a:pt x="1370620" y="352148"/>
                </a:cubicBezTo>
                <a:cubicBezTo>
                  <a:pt x="1346468" y="345034"/>
                  <a:pt x="1310237" y="355706"/>
                  <a:pt x="1322314" y="394834"/>
                </a:cubicBezTo>
                <a:cubicBezTo>
                  <a:pt x="1334390" y="430405"/>
                  <a:pt x="1373640" y="458860"/>
                  <a:pt x="1304199" y="451747"/>
                </a:cubicBezTo>
                <a:cubicBezTo>
                  <a:pt x="1252873" y="448189"/>
                  <a:pt x="1237778" y="405504"/>
                  <a:pt x="1222682" y="359262"/>
                </a:cubicBezTo>
                <a:cubicBezTo>
                  <a:pt x="1210606" y="334364"/>
                  <a:pt x="1177395" y="320135"/>
                  <a:pt x="1153242" y="334364"/>
                </a:cubicBezTo>
                <a:cubicBezTo>
                  <a:pt x="1123051" y="348592"/>
                  <a:pt x="1132108" y="387720"/>
                  <a:pt x="1132108" y="416176"/>
                </a:cubicBezTo>
                <a:cubicBezTo>
                  <a:pt x="1129088" y="469532"/>
                  <a:pt x="1153242" y="494431"/>
                  <a:pt x="1195509" y="505101"/>
                </a:cubicBezTo>
                <a:cubicBezTo>
                  <a:pt x="1246836" y="519330"/>
                  <a:pt x="1298160" y="537116"/>
                  <a:pt x="1364582" y="558458"/>
                </a:cubicBezTo>
                <a:cubicBezTo>
                  <a:pt x="1292122" y="594028"/>
                  <a:pt x="1237778" y="586915"/>
                  <a:pt x="1183434" y="558458"/>
                </a:cubicBezTo>
                <a:cubicBezTo>
                  <a:pt x="1117012" y="526444"/>
                  <a:pt x="1029458" y="483759"/>
                  <a:pt x="975114" y="522887"/>
                </a:cubicBezTo>
                <a:cubicBezTo>
                  <a:pt x="893597" y="579800"/>
                  <a:pt x="827176" y="544229"/>
                  <a:pt x="754716" y="533558"/>
                </a:cubicBezTo>
                <a:cubicBezTo>
                  <a:pt x="603758" y="512216"/>
                  <a:pt x="697352" y="480203"/>
                  <a:pt x="546395" y="462417"/>
                </a:cubicBezTo>
                <a:cubicBezTo>
                  <a:pt x="486012" y="455303"/>
                  <a:pt x="422610" y="426847"/>
                  <a:pt x="335056" y="465975"/>
                </a:cubicBezTo>
                <a:cubicBezTo>
                  <a:pt x="730563" y="672284"/>
                  <a:pt x="917750" y="658055"/>
                  <a:pt x="1270988" y="910606"/>
                </a:cubicBezTo>
                <a:cubicBezTo>
                  <a:pt x="1255893" y="935506"/>
                  <a:pt x="1240798" y="924835"/>
                  <a:pt x="1225701" y="921277"/>
                </a:cubicBezTo>
                <a:cubicBezTo>
                  <a:pt x="1201548" y="917720"/>
                  <a:pt x="1171356" y="903491"/>
                  <a:pt x="1165318" y="949734"/>
                </a:cubicBezTo>
                <a:cubicBezTo>
                  <a:pt x="1162298" y="985305"/>
                  <a:pt x="1180415" y="1003089"/>
                  <a:pt x="1210606" y="1006647"/>
                </a:cubicBezTo>
                <a:cubicBezTo>
                  <a:pt x="1298160" y="1020875"/>
                  <a:pt x="1376658" y="1070674"/>
                  <a:pt x="1455156" y="1113358"/>
                </a:cubicBezTo>
                <a:cubicBezTo>
                  <a:pt x="1491385" y="1131144"/>
                  <a:pt x="1530634" y="1156043"/>
                  <a:pt x="1515538" y="1220069"/>
                </a:cubicBezTo>
                <a:cubicBezTo>
                  <a:pt x="1485348" y="1237855"/>
                  <a:pt x="1464213" y="1212955"/>
                  <a:pt x="1440060" y="1209399"/>
                </a:cubicBezTo>
                <a:cubicBezTo>
                  <a:pt x="1415907" y="1205842"/>
                  <a:pt x="1358543" y="1220069"/>
                  <a:pt x="1373640" y="1230741"/>
                </a:cubicBezTo>
                <a:cubicBezTo>
                  <a:pt x="1443080" y="1269868"/>
                  <a:pt x="1316276" y="1365909"/>
                  <a:pt x="1400810" y="1365909"/>
                </a:cubicBezTo>
                <a:cubicBezTo>
                  <a:pt x="1539691" y="1365909"/>
                  <a:pt x="1615170" y="1536647"/>
                  <a:pt x="1748012" y="1540204"/>
                </a:cubicBezTo>
                <a:cubicBezTo>
                  <a:pt x="1769146" y="1540204"/>
                  <a:pt x="1778203" y="1572219"/>
                  <a:pt x="1778203" y="1597117"/>
                </a:cubicBezTo>
                <a:cubicBezTo>
                  <a:pt x="1778203" y="1629132"/>
                  <a:pt x="1757070" y="1632688"/>
                  <a:pt x="1735936" y="1636245"/>
                </a:cubicBezTo>
                <a:cubicBezTo>
                  <a:pt x="1702725" y="1639802"/>
                  <a:pt x="1666496" y="1597117"/>
                  <a:pt x="1624228" y="1657587"/>
                </a:cubicBezTo>
                <a:cubicBezTo>
                  <a:pt x="1702725" y="1693158"/>
                  <a:pt x="1784242" y="1728729"/>
                  <a:pt x="1781223" y="1849668"/>
                </a:cubicBezTo>
                <a:cubicBezTo>
                  <a:pt x="1781223" y="1881683"/>
                  <a:pt x="1814434" y="1895910"/>
                  <a:pt x="1838587" y="1903025"/>
                </a:cubicBezTo>
                <a:cubicBezTo>
                  <a:pt x="1880854" y="1917252"/>
                  <a:pt x="1914065" y="1938595"/>
                  <a:pt x="1938218" y="1984836"/>
                </a:cubicBezTo>
                <a:cubicBezTo>
                  <a:pt x="1938218" y="1995507"/>
                  <a:pt x="1938218" y="2002622"/>
                  <a:pt x="1938218" y="2013292"/>
                </a:cubicBezTo>
                <a:cubicBezTo>
                  <a:pt x="1932180" y="2123562"/>
                  <a:pt x="1871798" y="2120004"/>
                  <a:pt x="1805376" y="2102219"/>
                </a:cubicBezTo>
                <a:cubicBezTo>
                  <a:pt x="1726878" y="2080877"/>
                  <a:pt x="1648381" y="2038192"/>
                  <a:pt x="1563844" y="2077320"/>
                </a:cubicBezTo>
                <a:cubicBezTo>
                  <a:pt x="1681592" y="2130676"/>
                  <a:pt x="1811414" y="2134233"/>
                  <a:pt x="1920104" y="2208931"/>
                </a:cubicBezTo>
                <a:cubicBezTo>
                  <a:pt x="1515538" y="2223159"/>
                  <a:pt x="1159280" y="1984836"/>
                  <a:pt x="766792" y="1892353"/>
                </a:cubicBezTo>
                <a:cubicBezTo>
                  <a:pt x="778869" y="1952823"/>
                  <a:pt x="812080" y="1967051"/>
                  <a:pt x="839252" y="1974165"/>
                </a:cubicBezTo>
                <a:cubicBezTo>
                  <a:pt x="984170" y="2020407"/>
                  <a:pt x="1110974" y="2112891"/>
                  <a:pt x="1243816" y="2191146"/>
                </a:cubicBezTo>
                <a:cubicBezTo>
                  <a:pt x="1298160" y="2223159"/>
                  <a:pt x="1337410" y="2258731"/>
                  <a:pt x="1358543" y="2326314"/>
                </a:cubicBezTo>
                <a:cubicBezTo>
                  <a:pt x="1376658" y="2390340"/>
                  <a:pt x="1412888" y="2418796"/>
                  <a:pt x="1479310" y="2401012"/>
                </a:cubicBezTo>
                <a:cubicBezTo>
                  <a:pt x="1533654" y="2386784"/>
                  <a:pt x="1591018" y="2393898"/>
                  <a:pt x="1648381" y="2401012"/>
                </a:cubicBezTo>
                <a:cubicBezTo>
                  <a:pt x="1711782" y="2408126"/>
                  <a:pt x="1784242" y="2479267"/>
                  <a:pt x="1769146" y="2518395"/>
                </a:cubicBezTo>
                <a:cubicBezTo>
                  <a:pt x="1738956" y="2582422"/>
                  <a:pt x="1687630" y="2550408"/>
                  <a:pt x="1645361" y="2543294"/>
                </a:cubicBezTo>
                <a:cubicBezTo>
                  <a:pt x="1594036" y="2536181"/>
                  <a:pt x="1500444" y="2518395"/>
                  <a:pt x="1500444" y="2525509"/>
                </a:cubicBezTo>
                <a:cubicBezTo>
                  <a:pt x="1467232" y="2685576"/>
                  <a:pt x="1391754" y="2564636"/>
                  <a:pt x="1337410" y="2564636"/>
                </a:cubicBezTo>
                <a:cubicBezTo>
                  <a:pt x="1286084" y="2564636"/>
                  <a:pt x="1234759" y="2546851"/>
                  <a:pt x="1186452" y="2532623"/>
                </a:cubicBezTo>
                <a:cubicBezTo>
                  <a:pt x="1123051" y="2514837"/>
                  <a:pt x="1065688" y="2546851"/>
                  <a:pt x="1005304" y="2553965"/>
                </a:cubicBezTo>
                <a:cubicBezTo>
                  <a:pt x="950960" y="2561080"/>
                  <a:pt x="981150" y="2653563"/>
                  <a:pt x="947940" y="2692689"/>
                </a:cubicBezTo>
                <a:cubicBezTo>
                  <a:pt x="941903" y="2703362"/>
                  <a:pt x="935864" y="2703362"/>
                  <a:pt x="929826" y="2703362"/>
                </a:cubicBezTo>
                <a:cubicBezTo>
                  <a:pt x="911711" y="2980812"/>
                  <a:pt x="594701" y="2913227"/>
                  <a:pt x="594701" y="2923898"/>
                </a:cubicBezTo>
                <a:cubicBezTo>
                  <a:pt x="567529" y="2941684"/>
                  <a:pt x="534318" y="2899000"/>
                  <a:pt x="501108" y="2941684"/>
                </a:cubicBezTo>
                <a:cubicBezTo>
                  <a:pt x="643007" y="3137322"/>
                  <a:pt x="860386" y="3183563"/>
                  <a:pt x="1053610" y="3329402"/>
                </a:cubicBezTo>
                <a:cubicBezTo>
                  <a:pt x="893597" y="3379202"/>
                  <a:pt x="800002" y="3208463"/>
                  <a:pt x="682256" y="3229805"/>
                </a:cubicBezTo>
                <a:cubicBezTo>
                  <a:pt x="624893" y="3283162"/>
                  <a:pt x="796984" y="3368530"/>
                  <a:pt x="630932" y="3393429"/>
                </a:cubicBezTo>
                <a:cubicBezTo>
                  <a:pt x="703390" y="3439672"/>
                  <a:pt x="754716" y="3485914"/>
                  <a:pt x="806041" y="3539269"/>
                </a:cubicBezTo>
                <a:cubicBezTo>
                  <a:pt x="893597" y="3635309"/>
                  <a:pt x="911711" y="3699337"/>
                  <a:pt x="869444" y="3827390"/>
                </a:cubicBezTo>
                <a:cubicBezTo>
                  <a:pt x="842270" y="3912759"/>
                  <a:pt x="803022" y="3991015"/>
                  <a:pt x="839252" y="4090612"/>
                </a:cubicBezTo>
                <a:cubicBezTo>
                  <a:pt x="863405" y="4158196"/>
                  <a:pt x="854347" y="4204438"/>
                  <a:pt x="763774" y="4172424"/>
                </a:cubicBezTo>
                <a:cubicBezTo>
                  <a:pt x="667160" y="4140411"/>
                  <a:pt x="630932" y="4200882"/>
                  <a:pt x="655085" y="4321821"/>
                </a:cubicBezTo>
                <a:cubicBezTo>
                  <a:pt x="670179" y="4400076"/>
                  <a:pt x="655085" y="4424975"/>
                  <a:pt x="588662" y="4414305"/>
                </a:cubicBezTo>
                <a:cubicBezTo>
                  <a:pt x="516204" y="4403633"/>
                  <a:pt x="446764" y="4353835"/>
                  <a:pt x="356189" y="4378734"/>
                </a:cubicBezTo>
                <a:cubicBezTo>
                  <a:pt x="428648" y="4521016"/>
                  <a:pt x="582626" y="4478331"/>
                  <a:pt x="667160" y="4613499"/>
                </a:cubicBezTo>
                <a:cubicBezTo>
                  <a:pt x="567529" y="4613499"/>
                  <a:pt x="489031" y="4613499"/>
                  <a:pt x="416573" y="4585042"/>
                </a:cubicBezTo>
                <a:cubicBezTo>
                  <a:pt x="386381" y="4574373"/>
                  <a:pt x="353170" y="4560144"/>
                  <a:pt x="335056" y="4602828"/>
                </a:cubicBezTo>
                <a:cubicBezTo>
                  <a:pt x="313920" y="4652628"/>
                  <a:pt x="356189" y="4670412"/>
                  <a:pt x="380342" y="4677526"/>
                </a:cubicBezTo>
                <a:cubicBezTo>
                  <a:pt x="449784" y="4702425"/>
                  <a:pt x="504126" y="4759339"/>
                  <a:pt x="564510" y="4805580"/>
                </a:cubicBezTo>
                <a:cubicBezTo>
                  <a:pt x="694332" y="4905177"/>
                  <a:pt x="836233" y="4990547"/>
                  <a:pt x="944922" y="5154171"/>
                </a:cubicBezTo>
                <a:cubicBezTo>
                  <a:pt x="809060" y="5111487"/>
                  <a:pt x="706410" y="5011889"/>
                  <a:pt x="576586" y="4994104"/>
                </a:cubicBezTo>
                <a:cubicBezTo>
                  <a:pt x="688296" y="5143500"/>
                  <a:pt x="830194" y="5243097"/>
                  <a:pt x="963036" y="5353367"/>
                </a:cubicBezTo>
                <a:cubicBezTo>
                  <a:pt x="1002286" y="5385379"/>
                  <a:pt x="1041534" y="5406721"/>
                  <a:pt x="1047572" y="5474306"/>
                </a:cubicBezTo>
                <a:cubicBezTo>
                  <a:pt x="1065688" y="5605917"/>
                  <a:pt x="1113992" y="5712629"/>
                  <a:pt x="1222682" y="5769542"/>
                </a:cubicBezTo>
                <a:cubicBezTo>
                  <a:pt x="1222682" y="5769542"/>
                  <a:pt x="1216644" y="5790884"/>
                  <a:pt x="1213626" y="5801555"/>
                </a:cubicBezTo>
                <a:cubicBezTo>
                  <a:pt x="1147203" y="5805112"/>
                  <a:pt x="1095878" y="5726858"/>
                  <a:pt x="1014361" y="5755314"/>
                </a:cubicBezTo>
                <a:cubicBezTo>
                  <a:pt x="1095878" y="5862025"/>
                  <a:pt x="1162298" y="5954508"/>
                  <a:pt x="1274008" y="6004307"/>
                </a:cubicBezTo>
                <a:cubicBezTo>
                  <a:pt x="1364582" y="6043434"/>
                  <a:pt x="1476290" y="6068335"/>
                  <a:pt x="1542711" y="6196388"/>
                </a:cubicBezTo>
                <a:cubicBezTo>
                  <a:pt x="1467232" y="6221287"/>
                  <a:pt x="1409868" y="6189274"/>
                  <a:pt x="1352504" y="6167932"/>
                </a:cubicBezTo>
                <a:cubicBezTo>
                  <a:pt x="1264950" y="6132361"/>
                  <a:pt x="1177395" y="6093234"/>
                  <a:pt x="1089840" y="6057663"/>
                </a:cubicBezTo>
                <a:cubicBezTo>
                  <a:pt x="1056628" y="6043434"/>
                  <a:pt x="1020400" y="6036320"/>
                  <a:pt x="999266" y="6100347"/>
                </a:cubicBezTo>
                <a:cubicBezTo>
                  <a:pt x="1110974" y="6114575"/>
                  <a:pt x="1177395" y="6199945"/>
                  <a:pt x="1246836" y="6281757"/>
                </a:cubicBezTo>
                <a:cubicBezTo>
                  <a:pt x="1286084" y="6327999"/>
                  <a:pt x="1319295" y="6388469"/>
                  <a:pt x="1388735" y="6367127"/>
                </a:cubicBezTo>
                <a:cubicBezTo>
                  <a:pt x="1424964" y="6356456"/>
                  <a:pt x="1449118" y="6388469"/>
                  <a:pt x="1446099" y="6431153"/>
                </a:cubicBezTo>
                <a:cubicBezTo>
                  <a:pt x="1431002" y="6580550"/>
                  <a:pt x="1518558" y="6630349"/>
                  <a:pt x="1609132" y="6658805"/>
                </a:cubicBezTo>
                <a:cubicBezTo>
                  <a:pt x="1741974" y="6701489"/>
                  <a:pt x="1859720" y="6786859"/>
                  <a:pt x="1983504" y="6858000"/>
                </a:cubicBezTo>
                <a:lnTo>
                  <a:pt x="0" y="6858000"/>
                </a:lnTo>
                <a:close/>
              </a:path>
            </a:pathLst>
          </a:custGeom>
          <a:solidFill>
            <a:schemeClr val="bg2">
              <a:alpha val="50000"/>
            </a:schemeClr>
          </a:solidFill>
          <a:ln w="32707" cap="flat">
            <a:noFill/>
            <a:prstDash val="solid"/>
            <a:miter/>
          </a:ln>
        </p:spPr>
        <p:txBody>
          <a:bodyPr wrap="square" rtlCol="0" anchor="ctr">
            <a:noAutofit/>
          </a:bodyPr>
          <a:lstStyle/>
          <a:p>
            <a:pPr algn="ctr"/>
            <a:endParaRPr lang="en-US"/>
          </a:p>
        </p:txBody>
      </p:sp>
      <p:graphicFrame>
        <p:nvGraphicFramePr>
          <p:cNvPr id="2" name="Table 1">
            <a:extLst>
              <a:ext uri="{FF2B5EF4-FFF2-40B4-BE49-F238E27FC236}">
                <a16:creationId xmlns:a16="http://schemas.microsoft.com/office/drawing/2014/main" id="{5D011663-2CEB-A1EB-5777-3A152FBDA0E6}"/>
              </a:ext>
            </a:extLst>
          </p:cNvPr>
          <p:cNvGraphicFramePr>
            <a:graphicFrameLocks noGrp="1"/>
          </p:cNvGraphicFramePr>
          <p:nvPr>
            <p:extLst>
              <p:ext uri="{D42A27DB-BD31-4B8C-83A1-F6EECF244321}">
                <p14:modId xmlns:p14="http://schemas.microsoft.com/office/powerpoint/2010/main" val="2348317197"/>
              </p:ext>
            </p:extLst>
          </p:nvPr>
        </p:nvGraphicFramePr>
        <p:xfrm>
          <a:off x="149371" y="869133"/>
          <a:ext cx="5490938" cy="5756693"/>
        </p:xfrm>
        <a:graphic>
          <a:graphicData uri="http://schemas.openxmlformats.org/drawingml/2006/table">
            <a:tbl>
              <a:tblPr/>
              <a:tblGrid>
                <a:gridCol w="5490938">
                  <a:extLst>
                    <a:ext uri="{9D8B030D-6E8A-4147-A177-3AD203B41FA5}">
                      <a16:colId xmlns:a16="http://schemas.microsoft.com/office/drawing/2014/main" val="4013321139"/>
                    </a:ext>
                  </a:extLst>
                </a:gridCol>
              </a:tblGrid>
              <a:tr h="611651">
                <a:tc>
                  <a:txBody>
                    <a:bodyPr/>
                    <a:lstStyle/>
                    <a:p>
                      <a:pPr algn="ctr" fontAlgn="ctr">
                        <a:buNone/>
                      </a:pPr>
                      <a:r>
                        <a:rPr lang="en-US" sz="1200" b="0" i="0" u="none" strike="noStrike" dirty="0">
                          <a:solidFill>
                            <a:srgbClr val="000000"/>
                          </a:solidFill>
                          <a:effectLst/>
                          <a:latin typeface="Calibri" panose="020F0502020204030204" pitchFamily="34" charset="0"/>
                        </a:rPr>
                        <a:t>Why do you need to develop models for absorber? What models already exist and why they do not meet your requirements.</a:t>
                      </a:r>
                      <a:endParaRPr lang="en-US" sz="1200" b="0" i="0" u="none" strike="noStrike" dirty="0">
                        <a:effectLst/>
                        <a:latin typeface="Arial" panose="020B0604020202020204" pitchFamily="34" charset="0"/>
                      </a:endParaRPr>
                    </a:p>
                  </a:txBody>
                  <a:tcPr marL="14666" marR="14666" marT="1466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extLst>
                  <a:ext uri="{0D108BD9-81ED-4DB2-BD59-A6C34878D82A}">
                    <a16:rowId xmlns:a16="http://schemas.microsoft.com/office/drawing/2014/main" val="3064771129"/>
                  </a:ext>
                </a:extLst>
              </a:tr>
              <a:tr h="1094712">
                <a:tc>
                  <a:txBody>
                    <a:bodyPr/>
                    <a:lstStyle/>
                    <a:p>
                      <a:pPr algn="ctr" fontAlgn="ctr">
                        <a:buNone/>
                      </a:pPr>
                      <a:r>
                        <a:rPr lang="en-US" sz="1200" b="0" i="0" u="none" strike="noStrike" dirty="0">
                          <a:solidFill>
                            <a:srgbClr val="000000"/>
                          </a:solidFill>
                          <a:effectLst/>
                          <a:latin typeface="Calibri" panose="020F0502020204030204" pitchFamily="34" charset="0"/>
                        </a:rPr>
                        <a:t>One of the things I was wondering about was gains regarding the use of a physics-based transient model. It is easy to guess that there would be some inaccuracies when using a polynomial or stead-state model. Did anything in particular or your work make you run into limitations regarding the current models?</a:t>
                      </a:r>
                      <a:endParaRPr lang="en-US" sz="1200" b="0" i="0" u="none" strike="noStrike" dirty="0">
                        <a:effectLst/>
                        <a:latin typeface="Arial" panose="020B0604020202020204" pitchFamily="34" charset="0"/>
                      </a:endParaRPr>
                    </a:p>
                  </a:txBody>
                  <a:tcPr marL="14666" marR="14666" marT="1466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extLst>
                  <a:ext uri="{0D108BD9-81ED-4DB2-BD59-A6C34878D82A}">
                    <a16:rowId xmlns:a16="http://schemas.microsoft.com/office/drawing/2014/main" val="3903994706"/>
                  </a:ext>
                </a:extLst>
              </a:tr>
              <a:tr h="342793">
                <a:tc>
                  <a:txBody>
                    <a:bodyPr/>
                    <a:lstStyle/>
                    <a:p>
                      <a:pPr algn="ctr" fontAlgn="ctr">
                        <a:buNone/>
                      </a:pPr>
                      <a:r>
                        <a:rPr lang="en-US" sz="1200" b="0" i="0" u="none" strike="noStrike">
                          <a:solidFill>
                            <a:srgbClr val="000000"/>
                          </a:solidFill>
                          <a:effectLst/>
                          <a:latin typeface="Calibri" panose="020F0502020204030204" pitchFamily="34" charset="0"/>
                        </a:rPr>
                        <a:t>What is an absorption cycle? What is the curve model in Dymola? </a:t>
                      </a:r>
                      <a:endParaRPr lang="en-US" sz="1200" b="0" i="0" u="none" strike="noStrike">
                        <a:effectLst/>
                        <a:latin typeface="Arial" panose="020B0604020202020204" pitchFamily="34" charset="0"/>
                      </a:endParaRPr>
                    </a:p>
                  </a:txBody>
                  <a:tcPr marL="14666" marR="14666" marT="1466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1CBF3"/>
                    </a:solidFill>
                  </a:tcPr>
                </a:tc>
                <a:extLst>
                  <a:ext uri="{0D108BD9-81ED-4DB2-BD59-A6C34878D82A}">
                    <a16:rowId xmlns:a16="http://schemas.microsoft.com/office/drawing/2014/main" val="1584974421"/>
                  </a:ext>
                </a:extLst>
              </a:tr>
              <a:tr h="880508">
                <a:tc>
                  <a:txBody>
                    <a:bodyPr/>
                    <a:lstStyle/>
                    <a:p>
                      <a:pPr algn="ctr" fontAlgn="ctr">
                        <a:buNone/>
                      </a:pPr>
                      <a:r>
                        <a:rPr lang="en-US" sz="1200" b="0" i="0" u="none" strike="noStrike" dirty="0">
                          <a:solidFill>
                            <a:srgbClr val="000000"/>
                          </a:solidFill>
                          <a:effectLst/>
                          <a:latin typeface="Calibri" panose="020F0502020204030204" pitchFamily="34" charset="0"/>
                        </a:rPr>
                        <a:t>What is the Kalina cycle? You mention it briefly in the start of the presentation and mention how it is similar to the Rankine cycle which some key differences, but what additional information can you give about the Kalina cycle?</a:t>
                      </a:r>
                      <a:endParaRPr lang="en-US" sz="1200" b="0" i="0" u="none" strike="noStrike" dirty="0">
                        <a:effectLst/>
                        <a:latin typeface="Arial" panose="020B0604020202020204" pitchFamily="34" charset="0"/>
                      </a:endParaRPr>
                    </a:p>
                  </a:txBody>
                  <a:tcPr marL="14666" marR="14666" marT="1466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C7AC"/>
                    </a:solidFill>
                  </a:tcPr>
                </a:tc>
                <a:extLst>
                  <a:ext uri="{0D108BD9-81ED-4DB2-BD59-A6C34878D82A}">
                    <a16:rowId xmlns:a16="http://schemas.microsoft.com/office/drawing/2014/main" val="768340401"/>
                  </a:ext>
                </a:extLst>
              </a:tr>
              <a:tr h="1149366">
                <a:tc>
                  <a:txBody>
                    <a:bodyPr/>
                    <a:lstStyle/>
                    <a:p>
                      <a:pPr algn="ctr" fontAlgn="ctr">
                        <a:buNone/>
                      </a:pPr>
                      <a:r>
                        <a:rPr lang="en-US" sz="1200" b="0" i="0" u="none" strike="noStrike" dirty="0">
                          <a:solidFill>
                            <a:srgbClr val="000000"/>
                          </a:solidFill>
                          <a:effectLst/>
                          <a:latin typeface="Calibri" panose="020F0502020204030204" pitchFamily="34" charset="0"/>
                        </a:rPr>
                        <a:t>When you compare the new physics-based absorber with the existing EES model and your Modelica implementation, which output variables define the 10% difference - capacity, outlet temperatures, or solution concentration? And does the same 10% band apply to the transient case, where the error varies over the trajectory?</a:t>
                      </a:r>
                      <a:endParaRPr lang="en-US" sz="1200" b="0" i="0" u="none" strike="noStrike" dirty="0">
                        <a:effectLst/>
                        <a:latin typeface="Arial" panose="020B0604020202020204" pitchFamily="34" charset="0"/>
                      </a:endParaRPr>
                    </a:p>
                  </a:txBody>
                  <a:tcPr marL="14666" marR="14666" marT="1466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D359"/>
                    </a:solidFill>
                  </a:tcPr>
                </a:tc>
                <a:extLst>
                  <a:ext uri="{0D108BD9-81ED-4DB2-BD59-A6C34878D82A}">
                    <a16:rowId xmlns:a16="http://schemas.microsoft.com/office/drawing/2014/main" val="2667506266"/>
                  </a:ext>
                </a:extLst>
              </a:tr>
              <a:tr h="611651">
                <a:tc>
                  <a:txBody>
                    <a:bodyPr/>
                    <a:lstStyle/>
                    <a:p>
                      <a:pPr algn="ctr" fontAlgn="ctr">
                        <a:buNone/>
                      </a:pPr>
                      <a:r>
                        <a:rPr lang="en-US" sz="1200" b="0" i="0" u="none" strike="noStrike">
                          <a:solidFill>
                            <a:srgbClr val="000000"/>
                          </a:solidFill>
                          <a:effectLst/>
                          <a:latin typeface="Calibri" panose="020F0502020204030204" pitchFamily="34" charset="0"/>
                        </a:rPr>
                        <a:t>What are the fundamental mass and energy balance equations needed to start building this specific Ammonia-Water absorber component model?</a:t>
                      </a:r>
                      <a:endParaRPr lang="en-US" sz="1200" b="0" i="0" u="none" strike="noStrike">
                        <a:effectLst/>
                        <a:latin typeface="Arial" panose="020B0604020202020204" pitchFamily="34" charset="0"/>
                      </a:endParaRPr>
                    </a:p>
                  </a:txBody>
                  <a:tcPr marL="14666" marR="14666" marT="1466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86DCD"/>
                    </a:solidFill>
                  </a:tcPr>
                </a:tc>
                <a:extLst>
                  <a:ext uri="{0D108BD9-81ED-4DB2-BD59-A6C34878D82A}">
                    <a16:rowId xmlns:a16="http://schemas.microsoft.com/office/drawing/2014/main" val="2738051199"/>
                  </a:ext>
                </a:extLst>
              </a:tr>
              <a:tr h="342793">
                <a:tc>
                  <a:txBody>
                    <a:bodyPr/>
                    <a:lstStyle/>
                    <a:p>
                      <a:pPr algn="ctr" fontAlgn="ctr">
                        <a:buNone/>
                      </a:pPr>
                      <a:r>
                        <a:rPr lang="en-US" sz="1200" b="0" i="0" u="none" strike="noStrike" dirty="0">
                          <a:solidFill>
                            <a:srgbClr val="000000"/>
                          </a:solidFill>
                          <a:effectLst/>
                          <a:latin typeface="Calibri" panose="020F0502020204030204" pitchFamily="34" charset="0"/>
                        </a:rPr>
                        <a:t>What chemical interactions are the most important to capture in the absorber model?</a:t>
                      </a:r>
                      <a:endParaRPr lang="en-US" sz="1200" b="0" i="0" u="none" strike="noStrike" dirty="0">
                        <a:effectLst/>
                        <a:latin typeface="Arial" panose="020B0604020202020204" pitchFamily="34" charset="0"/>
                      </a:endParaRPr>
                    </a:p>
                  </a:txBody>
                  <a:tcPr marL="14666" marR="14666" marT="1466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86DCD"/>
                    </a:solidFill>
                  </a:tcPr>
                </a:tc>
                <a:extLst>
                  <a:ext uri="{0D108BD9-81ED-4DB2-BD59-A6C34878D82A}">
                    <a16:rowId xmlns:a16="http://schemas.microsoft.com/office/drawing/2014/main" val="1337659459"/>
                  </a:ext>
                </a:extLst>
              </a:tr>
              <a:tr h="342793">
                <a:tc>
                  <a:txBody>
                    <a:bodyPr/>
                    <a:lstStyle/>
                    <a:p>
                      <a:pPr algn="ctr" fontAlgn="ctr">
                        <a:buNone/>
                      </a:pPr>
                      <a:r>
                        <a:rPr lang="en-US" sz="1200" b="0" i="0" u="sng" strike="noStrike">
                          <a:solidFill>
                            <a:srgbClr val="467886"/>
                          </a:solidFill>
                          <a:effectLst/>
                          <a:latin typeface="Aptos Narrow" panose="020B0004020202020204" pitchFamily="34" charset="0"/>
                          <a:hlinkClick r:id="rId2"/>
                        </a:rPr>
                        <a:t>How do you plan to validate your model to determine whether it captures the physics well or not?</a:t>
                      </a:r>
                      <a:endParaRPr lang="en-US" sz="1200" b="0" i="0" u="none" strike="noStrike">
                        <a:effectLst/>
                        <a:latin typeface="Arial" panose="020B0604020202020204" pitchFamily="34" charset="0"/>
                      </a:endParaRPr>
                    </a:p>
                  </a:txBody>
                  <a:tcPr marL="14666" marR="14666" marT="1466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D359"/>
                    </a:solidFill>
                  </a:tcPr>
                </a:tc>
                <a:extLst>
                  <a:ext uri="{0D108BD9-81ED-4DB2-BD59-A6C34878D82A}">
                    <a16:rowId xmlns:a16="http://schemas.microsoft.com/office/drawing/2014/main" val="3422394463"/>
                  </a:ext>
                </a:extLst>
              </a:tr>
              <a:tr h="342793">
                <a:tc>
                  <a:txBody>
                    <a:bodyPr/>
                    <a:lstStyle/>
                    <a:p>
                      <a:pPr algn="ctr" fontAlgn="ctr">
                        <a:buNone/>
                      </a:pPr>
                      <a:r>
                        <a:rPr lang="en-US" sz="1200" b="0" i="0" u="none" strike="noStrike" dirty="0">
                          <a:solidFill>
                            <a:srgbClr val="000000"/>
                          </a:solidFill>
                          <a:effectLst/>
                          <a:latin typeface="Calibri" panose="020F0502020204030204" pitchFamily="34" charset="0"/>
                        </a:rPr>
                        <a:t>Which outputs will you use to check the 10% agreement target?</a:t>
                      </a:r>
                      <a:endParaRPr lang="en-US" sz="1200" b="0" i="0" u="none" strike="noStrike" dirty="0">
                        <a:effectLst/>
                        <a:latin typeface="Arial" panose="020B0604020202020204" pitchFamily="34" charset="0"/>
                      </a:endParaRPr>
                    </a:p>
                  </a:txBody>
                  <a:tcPr marL="14666" marR="14666" marT="1466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D359"/>
                    </a:solidFill>
                  </a:tcPr>
                </a:tc>
                <a:extLst>
                  <a:ext uri="{0D108BD9-81ED-4DB2-BD59-A6C34878D82A}">
                    <a16:rowId xmlns:a16="http://schemas.microsoft.com/office/drawing/2014/main" val="4214123397"/>
                  </a:ext>
                </a:extLst>
              </a:tr>
            </a:tbl>
          </a:graphicData>
        </a:graphic>
      </p:graphicFrame>
      <p:sp>
        <p:nvSpPr>
          <p:cNvPr id="3" name="TextBox 2">
            <a:extLst>
              <a:ext uri="{FF2B5EF4-FFF2-40B4-BE49-F238E27FC236}">
                <a16:creationId xmlns:a16="http://schemas.microsoft.com/office/drawing/2014/main" id="{C6D5705D-E65C-77B8-7408-93C96B7594A1}"/>
              </a:ext>
            </a:extLst>
          </p:cNvPr>
          <p:cNvSpPr txBox="1"/>
          <p:nvPr/>
        </p:nvSpPr>
        <p:spPr>
          <a:xfrm>
            <a:off x="1522571" y="325926"/>
            <a:ext cx="3330085" cy="477054"/>
          </a:xfrm>
          <a:prstGeom prst="rect">
            <a:avLst/>
          </a:prstGeom>
          <a:noFill/>
        </p:spPr>
        <p:txBody>
          <a:bodyPr wrap="square" rtlCol="0">
            <a:spAutoFit/>
          </a:bodyPr>
          <a:lstStyle/>
          <a:p>
            <a:r>
              <a:rPr lang="en-US" sz="2500" b="1" u="sng" dirty="0"/>
              <a:t>Direct Questions</a:t>
            </a:r>
          </a:p>
        </p:txBody>
      </p:sp>
      <p:graphicFrame>
        <p:nvGraphicFramePr>
          <p:cNvPr id="5" name="Table 4">
            <a:extLst>
              <a:ext uri="{FF2B5EF4-FFF2-40B4-BE49-F238E27FC236}">
                <a16:creationId xmlns:a16="http://schemas.microsoft.com/office/drawing/2014/main" id="{A55426BD-EF33-19AB-D5AA-BB2BC5530C72}"/>
              </a:ext>
            </a:extLst>
          </p:cNvPr>
          <p:cNvGraphicFramePr>
            <a:graphicFrameLocks noGrp="1"/>
          </p:cNvGraphicFramePr>
          <p:nvPr>
            <p:extLst>
              <p:ext uri="{D42A27DB-BD31-4B8C-83A1-F6EECF244321}">
                <p14:modId xmlns:p14="http://schemas.microsoft.com/office/powerpoint/2010/main" val="2231140713"/>
              </p:ext>
            </p:extLst>
          </p:nvPr>
        </p:nvGraphicFramePr>
        <p:xfrm>
          <a:off x="6350061" y="1050202"/>
          <a:ext cx="5490938" cy="3103350"/>
        </p:xfrm>
        <a:graphic>
          <a:graphicData uri="http://schemas.openxmlformats.org/drawingml/2006/table">
            <a:tbl>
              <a:tblPr/>
              <a:tblGrid>
                <a:gridCol w="5490938">
                  <a:extLst>
                    <a:ext uri="{9D8B030D-6E8A-4147-A177-3AD203B41FA5}">
                      <a16:colId xmlns:a16="http://schemas.microsoft.com/office/drawing/2014/main" val="1404284131"/>
                    </a:ext>
                  </a:extLst>
                </a:gridCol>
              </a:tblGrid>
              <a:tr h="620670">
                <a:tc>
                  <a:txBody>
                    <a:bodyPr/>
                    <a:lstStyle/>
                    <a:p>
                      <a:pPr algn="ctr" fontAlgn="ctr">
                        <a:buNone/>
                      </a:pPr>
                      <a:r>
                        <a:rPr lang="en-US" sz="2000" b="1" i="0" u="none" strike="noStrike">
                          <a:solidFill>
                            <a:srgbClr val="000000"/>
                          </a:solidFill>
                          <a:effectLst/>
                          <a:latin typeface="Aptos Narrow" panose="020B0004020202020204" pitchFamily="34" charset="0"/>
                        </a:rPr>
                        <a:t>Why new absorber model</a:t>
                      </a:r>
                      <a:endParaRPr lang="en-US" sz="2000" b="0" i="0" u="none" strike="noStrike">
                        <a:effectLst/>
                        <a:latin typeface="Arial" panose="020B0604020202020204" pitchFamily="34" charset="0"/>
                      </a:endParaRPr>
                    </a:p>
                  </a:txBody>
                  <a:tcPr marL="28575" marR="28575" marT="28575" marB="0" anchor="ctr">
                    <a:lnL>
                      <a:noFill/>
                    </a:lnL>
                    <a:lnR>
                      <a:noFill/>
                    </a:lnR>
                    <a:lnT>
                      <a:noFill/>
                    </a:lnT>
                    <a:lnB>
                      <a:noFill/>
                    </a:lnB>
                    <a:solidFill>
                      <a:srgbClr val="C0E6F5"/>
                    </a:solidFill>
                  </a:tcPr>
                </a:tc>
                <a:extLst>
                  <a:ext uri="{0D108BD9-81ED-4DB2-BD59-A6C34878D82A}">
                    <a16:rowId xmlns:a16="http://schemas.microsoft.com/office/drawing/2014/main" val="929064743"/>
                  </a:ext>
                </a:extLst>
              </a:tr>
              <a:tr h="620670">
                <a:tc>
                  <a:txBody>
                    <a:bodyPr/>
                    <a:lstStyle/>
                    <a:p>
                      <a:pPr algn="ctr" fontAlgn="ctr">
                        <a:buNone/>
                      </a:pPr>
                      <a:r>
                        <a:rPr lang="en-US" sz="2000" b="1" i="0" u="none" strike="noStrike" dirty="0">
                          <a:solidFill>
                            <a:srgbClr val="000000"/>
                          </a:solidFill>
                          <a:effectLst/>
                          <a:latin typeface="Aptos Narrow" panose="020B0004020202020204" pitchFamily="34" charset="0"/>
                        </a:rPr>
                        <a:t>Kalina Cycle</a:t>
                      </a:r>
                      <a:endParaRPr lang="en-US" sz="2000" b="0" i="0" u="none" strike="noStrike" dirty="0">
                        <a:effectLst/>
                        <a:latin typeface="Arial" panose="020B0604020202020204" pitchFamily="34" charset="0"/>
                      </a:endParaRPr>
                    </a:p>
                  </a:txBody>
                  <a:tcPr marL="28575" marR="28575" marT="28575" marB="0" anchor="ctr">
                    <a:lnL>
                      <a:noFill/>
                    </a:lnL>
                    <a:lnR>
                      <a:noFill/>
                    </a:lnR>
                    <a:lnT>
                      <a:noFill/>
                    </a:lnT>
                    <a:lnB>
                      <a:noFill/>
                    </a:lnB>
                    <a:solidFill>
                      <a:srgbClr val="F7C7AC"/>
                    </a:solidFill>
                  </a:tcPr>
                </a:tc>
                <a:extLst>
                  <a:ext uri="{0D108BD9-81ED-4DB2-BD59-A6C34878D82A}">
                    <a16:rowId xmlns:a16="http://schemas.microsoft.com/office/drawing/2014/main" val="1662987428"/>
                  </a:ext>
                </a:extLst>
              </a:tr>
              <a:tr h="620670">
                <a:tc>
                  <a:txBody>
                    <a:bodyPr/>
                    <a:lstStyle/>
                    <a:p>
                      <a:pPr algn="ctr" fontAlgn="ctr">
                        <a:buNone/>
                      </a:pPr>
                      <a:r>
                        <a:rPr lang="en-US" sz="2000" b="1" i="0" u="none" strike="noStrike" dirty="0">
                          <a:solidFill>
                            <a:srgbClr val="000000"/>
                          </a:solidFill>
                          <a:effectLst/>
                          <a:latin typeface="Aptos Narrow" panose="020B0004020202020204" pitchFamily="34" charset="0"/>
                        </a:rPr>
                        <a:t>Criteria for comparison </a:t>
                      </a:r>
                      <a:endParaRPr lang="en-US" sz="2000" b="0" i="0" u="none" strike="noStrike" dirty="0">
                        <a:effectLst/>
                        <a:latin typeface="Arial" panose="020B0604020202020204" pitchFamily="34" charset="0"/>
                      </a:endParaRPr>
                    </a:p>
                  </a:txBody>
                  <a:tcPr marL="28575" marR="28575" marT="28575" marB="0" anchor="ctr">
                    <a:lnL>
                      <a:noFill/>
                    </a:lnL>
                    <a:lnR>
                      <a:noFill/>
                    </a:lnR>
                    <a:lnT>
                      <a:noFill/>
                    </a:lnT>
                    <a:lnB>
                      <a:noFill/>
                    </a:lnB>
                    <a:solidFill>
                      <a:srgbClr val="47D359"/>
                    </a:solidFill>
                  </a:tcPr>
                </a:tc>
                <a:extLst>
                  <a:ext uri="{0D108BD9-81ED-4DB2-BD59-A6C34878D82A}">
                    <a16:rowId xmlns:a16="http://schemas.microsoft.com/office/drawing/2014/main" val="1327987225"/>
                  </a:ext>
                </a:extLst>
              </a:tr>
              <a:tr h="620670">
                <a:tc>
                  <a:txBody>
                    <a:bodyPr/>
                    <a:lstStyle/>
                    <a:p>
                      <a:pPr algn="ctr" fontAlgn="ctr">
                        <a:buNone/>
                      </a:pPr>
                      <a:r>
                        <a:rPr lang="en-US" sz="2000" b="1" i="0" u="none" strike="noStrike" dirty="0">
                          <a:solidFill>
                            <a:srgbClr val="000000"/>
                          </a:solidFill>
                          <a:effectLst/>
                          <a:latin typeface="Aptos Narrow" panose="020B0004020202020204" pitchFamily="34" charset="0"/>
                        </a:rPr>
                        <a:t>What is absorption Cycle</a:t>
                      </a:r>
                      <a:endParaRPr lang="en-US" sz="2000" b="0" i="0" u="none" strike="noStrike" dirty="0">
                        <a:effectLst/>
                        <a:latin typeface="Arial" panose="020B0604020202020204" pitchFamily="34" charset="0"/>
                      </a:endParaRPr>
                    </a:p>
                  </a:txBody>
                  <a:tcPr marL="28575" marR="28575" marT="28575" marB="0" anchor="ctr">
                    <a:lnL>
                      <a:noFill/>
                    </a:lnL>
                    <a:lnR>
                      <a:noFill/>
                    </a:lnR>
                    <a:lnT>
                      <a:noFill/>
                    </a:lnT>
                    <a:lnB>
                      <a:noFill/>
                    </a:lnB>
                    <a:solidFill>
                      <a:srgbClr val="61CBF3"/>
                    </a:solidFill>
                  </a:tcPr>
                </a:tc>
                <a:extLst>
                  <a:ext uri="{0D108BD9-81ED-4DB2-BD59-A6C34878D82A}">
                    <a16:rowId xmlns:a16="http://schemas.microsoft.com/office/drawing/2014/main" val="3777957899"/>
                  </a:ext>
                </a:extLst>
              </a:tr>
              <a:tr h="620670">
                <a:tc>
                  <a:txBody>
                    <a:bodyPr/>
                    <a:lstStyle/>
                    <a:p>
                      <a:pPr algn="ctr" fontAlgn="ctr">
                        <a:buNone/>
                      </a:pPr>
                      <a:r>
                        <a:rPr lang="en-US" sz="2000" b="0" i="0" u="none" strike="noStrike" dirty="0">
                          <a:solidFill>
                            <a:srgbClr val="000000"/>
                          </a:solidFill>
                          <a:effectLst/>
                          <a:latin typeface="Aptos Narrow" panose="020B0004020202020204" pitchFamily="34" charset="0"/>
                        </a:rPr>
                        <a:t>Important Chemical Kinetics</a:t>
                      </a:r>
                      <a:endParaRPr lang="en-US" sz="2000" b="0" i="0" u="none" strike="noStrike" dirty="0">
                        <a:effectLst/>
                        <a:latin typeface="Arial" panose="020B0604020202020204" pitchFamily="34" charset="0"/>
                      </a:endParaRPr>
                    </a:p>
                  </a:txBody>
                  <a:tcPr marL="28575" marR="28575" marT="28575" marB="0" anchor="ctr">
                    <a:lnL>
                      <a:noFill/>
                    </a:lnL>
                    <a:lnR>
                      <a:noFill/>
                    </a:lnR>
                    <a:lnT>
                      <a:noFill/>
                    </a:lnT>
                    <a:lnB>
                      <a:noFill/>
                    </a:lnB>
                    <a:solidFill>
                      <a:srgbClr val="D86DCD"/>
                    </a:solidFill>
                  </a:tcPr>
                </a:tc>
                <a:extLst>
                  <a:ext uri="{0D108BD9-81ED-4DB2-BD59-A6C34878D82A}">
                    <a16:rowId xmlns:a16="http://schemas.microsoft.com/office/drawing/2014/main" val="597868235"/>
                  </a:ext>
                </a:extLst>
              </a:tr>
            </a:tbl>
          </a:graphicData>
        </a:graphic>
      </p:graphicFrame>
      <p:sp>
        <p:nvSpPr>
          <p:cNvPr id="6" name="TextBox 5">
            <a:extLst>
              <a:ext uri="{FF2B5EF4-FFF2-40B4-BE49-F238E27FC236}">
                <a16:creationId xmlns:a16="http://schemas.microsoft.com/office/drawing/2014/main" id="{E2CEEE4D-467C-728E-10C5-114F8F93980E}"/>
              </a:ext>
            </a:extLst>
          </p:cNvPr>
          <p:cNvSpPr txBox="1"/>
          <p:nvPr/>
        </p:nvSpPr>
        <p:spPr>
          <a:xfrm>
            <a:off x="7369521" y="325926"/>
            <a:ext cx="3177766" cy="477054"/>
          </a:xfrm>
          <a:prstGeom prst="rect">
            <a:avLst/>
          </a:prstGeom>
          <a:noFill/>
        </p:spPr>
        <p:txBody>
          <a:bodyPr wrap="square" rtlCol="0">
            <a:spAutoFit/>
          </a:bodyPr>
          <a:lstStyle/>
          <a:p>
            <a:r>
              <a:rPr lang="en-US" sz="2500" b="1" u="sng" dirty="0"/>
              <a:t>Lumped Questions</a:t>
            </a:r>
          </a:p>
        </p:txBody>
      </p:sp>
    </p:spTree>
    <p:extLst>
      <p:ext uri="{BB962C8B-B14F-4D97-AF65-F5344CB8AC3E}">
        <p14:creationId xmlns:p14="http://schemas.microsoft.com/office/powerpoint/2010/main" val="8962102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6788D5-C1B6-8FF1-E0F7-2AF5D51AB7B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8B94212-6B0C-09D4-DBD7-CF692B0FB0C8}"/>
              </a:ext>
            </a:extLst>
          </p:cNvPr>
          <p:cNvSpPr txBox="1"/>
          <p:nvPr/>
        </p:nvSpPr>
        <p:spPr>
          <a:xfrm>
            <a:off x="624688" y="280657"/>
            <a:ext cx="5712737" cy="477054"/>
          </a:xfrm>
          <a:prstGeom prst="rect">
            <a:avLst/>
          </a:prstGeom>
          <a:noFill/>
        </p:spPr>
        <p:txBody>
          <a:bodyPr wrap="square" rtlCol="0">
            <a:spAutoFit/>
          </a:bodyPr>
          <a:lstStyle/>
          <a:p>
            <a:r>
              <a:rPr lang="en-US" sz="2500" b="1" u="sng" dirty="0"/>
              <a:t>What is an absorption Cycle</a:t>
            </a:r>
          </a:p>
        </p:txBody>
      </p:sp>
      <p:pic>
        <p:nvPicPr>
          <p:cNvPr id="4" name="Picture 3">
            <a:extLst>
              <a:ext uri="{FF2B5EF4-FFF2-40B4-BE49-F238E27FC236}">
                <a16:creationId xmlns:a16="http://schemas.microsoft.com/office/drawing/2014/main" id="{24F8B2CD-3109-C247-7621-04BE767FCE6F}"/>
              </a:ext>
            </a:extLst>
          </p:cNvPr>
          <p:cNvPicPr>
            <a:picLocks noChangeAspect="1"/>
          </p:cNvPicPr>
          <p:nvPr/>
        </p:nvPicPr>
        <p:blipFill>
          <a:blip r:embed="rId2"/>
          <a:stretch>
            <a:fillRect/>
          </a:stretch>
        </p:blipFill>
        <p:spPr>
          <a:xfrm>
            <a:off x="997013" y="2281095"/>
            <a:ext cx="5562600" cy="3581400"/>
          </a:xfrm>
          <a:prstGeom prst="rect">
            <a:avLst/>
          </a:prstGeom>
        </p:spPr>
      </p:pic>
      <p:sp>
        <p:nvSpPr>
          <p:cNvPr id="7" name="TextBox 6">
            <a:extLst>
              <a:ext uri="{FF2B5EF4-FFF2-40B4-BE49-F238E27FC236}">
                <a16:creationId xmlns:a16="http://schemas.microsoft.com/office/drawing/2014/main" id="{CDE12254-9170-918B-D510-568F103CC061}"/>
              </a:ext>
            </a:extLst>
          </p:cNvPr>
          <p:cNvSpPr txBox="1"/>
          <p:nvPr/>
        </p:nvSpPr>
        <p:spPr>
          <a:xfrm>
            <a:off x="7179398" y="1397513"/>
            <a:ext cx="4653481" cy="5909310"/>
          </a:xfrm>
          <a:prstGeom prst="rect">
            <a:avLst/>
          </a:prstGeom>
          <a:noFill/>
        </p:spPr>
        <p:txBody>
          <a:bodyPr wrap="square" rtlCol="0">
            <a:spAutoFit/>
          </a:bodyPr>
          <a:lstStyle/>
          <a:p>
            <a:pPr marL="285750" indent="-285750">
              <a:buFont typeface="Arial" panose="020B0604020202020204" pitchFamily="34" charset="0"/>
              <a:buChar char="•"/>
            </a:pPr>
            <a:r>
              <a:rPr lang="en-US" dirty="0"/>
              <a:t>Replaces the compressor in VCC with generator and absorber</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In the absorber water absorbs ammonia and releases heat </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In the generator heat is applies and separates the solution into water and high-pressure ammonia</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Ammonia then continues to coils&amp; expansion valve as in VCC</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Pumps liquid so electricity cost is &lt;&lt; than VCC</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Technically only requires a Heat flux to cool </a:t>
            </a:r>
          </a:p>
          <a:p>
            <a:endParaRPr lang="en-US" dirty="0"/>
          </a:p>
          <a:p>
            <a:endParaRPr lang="en-US" dirty="0"/>
          </a:p>
          <a:p>
            <a:endParaRPr lang="en-US" dirty="0"/>
          </a:p>
        </p:txBody>
      </p:sp>
      <p:sp>
        <p:nvSpPr>
          <p:cNvPr id="8" name="TextBox 7">
            <a:extLst>
              <a:ext uri="{FF2B5EF4-FFF2-40B4-BE49-F238E27FC236}">
                <a16:creationId xmlns:a16="http://schemas.microsoft.com/office/drawing/2014/main" id="{20AD6058-47C9-DB04-270B-3B7DEF2780B8}"/>
              </a:ext>
            </a:extLst>
          </p:cNvPr>
          <p:cNvSpPr txBox="1"/>
          <p:nvPr/>
        </p:nvSpPr>
        <p:spPr>
          <a:xfrm>
            <a:off x="359121" y="1074347"/>
            <a:ext cx="7496270" cy="646331"/>
          </a:xfrm>
          <a:prstGeom prst="rect">
            <a:avLst/>
          </a:prstGeom>
          <a:noFill/>
        </p:spPr>
        <p:txBody>
          <a:bodyPr wrap="square" rtlCol="0">
            <a:spAutoFit/>
          </a:bodyPr>
          <a:lstStyle/>
          <a:p>
            <a:r>
              <a:rPr lang="en-US" dirty="0"/>
              <a:t>Use the natural attraction of ammonia and water to create high pressure  high temperature ammonia vaper.</a:t>
            </a:r>
          </a:p>
        </p:txBody>
      </p:sp>
    </p:spTree>
    <p:extLst>
      <p:ext uri="{BB962C8B-B14F-4D97-AF65-F5344CB8AC3E}">
        <p14:creationId xmlns:p14="http://schemas.microsoft.com/office/powerpoint/2010/main" val="36943932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35F2B4-63CA-B469-58FD-BDF2E295CC6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43C9C2D-3C58-F6DF-1AC3-0819DEC54CB4}"/>
              </a:ext>
            </a:extLst>
          </p:cNvPr>
          <p:cNvSpPr txBox="1"/>
          <p:nvPr/>
        </p:nvSpPr>
        <p:spPr>
          <a:xfrm>
            <a:off x="506994" y="452673"/>
            <a:ext cx="4608214" cy="477054"/>
          </a:xfrm>
          <a:prstGeom prst="rect">
            <a:avLst/>
          </a:prstGeom>
          <a:noFill/>
        </p:spPr>
        <p:txBody>
          <a:bodyPr wrap="square" rtlCol="0">
            <a:spAutoFit/>
          </a:bodyPr>
          <a:lstStyle/>
          <a:p>
            <a:r>
              <a:rPr lang="en-US" sz="2500" b="1" u="sng" dirty="0"/>
              <a:t>What Is a Kalina Cycle</a:t>
            </a:r>
          </a:p>
        </p:txBody>
      </p:sp>
      <p:sp>
        <p:nvSpPr>
          <p:cNvPr id="5" name="TextBox 4">
            <a:extLst>
              <a:ext uri="{FF2B5EF4-FFF2-40B4-BE49-F238E27FC236}">
                <a16:creationId xmlns:a16="http://schemas.microsoft.com/office/drawing/2014/main" id="{96D1EA17-0E69-63E5-B5D6-F25F30B4675F}"/>
              </a:ext>
            </a:extLst>
          </p:cNvPr>
          <p:cNvSpPr txBox="1"/>
          <p:nvPr/>
        </p:nvSpPr>
        <p:spPr>
          <a:xfrm>
            <a:off x="1158608" y="1267213"/>
            <a:ext cx="9089679" cy="1200329"/>
          </a:xfrm>
          <a:prstGeom prst="rect">
            <a:avLst/>
          </a:prstGeom>
          <a:noFill/>
        </p:spPr>
        <p:txBody>
          <a:bodyPr wrap="square" rtlCol="0">
            <a:spAutoFit/>
          </a:bodyPr>
          <a:lstStyle/>
          <a:p>
            <a:pPr marL="285750" indent="-285750">
              <a:buFont typeface="Arial" panose="020B0604020202020204" pitchFamily="34" charset="0"/>
              <a:buChar char="•"/>
            </a:pPr>
            <a:r>
              <a:rPr lang="en-US" dirty="0"/>
              <a:t>Variation of Rankine</a:t>
            </a:r>
          </a:p>
          <a:p>
            <a:pPr marL="285750" indent="-285750">
              <a:buFont typeface="Arial" panose="020B0604020202020204" pitchFamily="34" charset="0"/>
              <a:buChar char="•"/>
            </a:pPr>
            <a:r>
              <a:rPr lang="en-US" dirty="0"/>
              <a:t>Can be 10% - 20% more efficient than baseline Rankine</a:t>
            </a:r>
          </a:p>
          <a:p>
            <a:pPr marL="285750" indent="-285750">
              <a:buFont typeface="Arial" panose="020B0604020202020204" pitchFamily="34" charset="0"/>
              <a:buChar char="•"/>
            </a:pPr>
            <a:r>
              <a:rPr lang="en-US" dirty="0"/>
              <a:t>Uses Water ammonia as working fluid</a:t>
            </a:r>
          </a:p>
          <a:p>
            <a:pPr marL="285750" indent="-285750">
              <a:buFont typeface="Arial" panose="020B0604020202020204" pitchFamily="34" charset="0"/>
              <a:buChar char="•"/>
            </a:pPr>
            <a:r>
              <a:rPr lang="en-US" dirty="0"/>
              <a:t>Area of research for combined cooling &amp; power plants</a:t>
            </a:r>
          </a:p>
        </p:txBody>
      </p:sp>
      <p:pic>
        <p:nvPicPr>
          <p:cNvPr id="9" name="Picture 8">
            <a:extLst>
              <a:ext uri="{FF2B5EF4-FFF2-40B4-BE49-F238E27FC236}">
                <a16:creationId xmlns:a16="http://schemas.microsoft.com/office/drawing/2014/main" id="{D0E963CD-864A-C3A2-AC11-3C602BDFBA35}"/>
              </a:ext>
            </a:extLst>
          </p:cNvPr>
          <p:cNvPicPr>
            <a:picLocks noChangeAspect="1"/>
          </p:cNvPicPr>
          <p:nvPr/>
        </p:nvPicPr>
        <p:blipFill>
          <a:blip r:embed="rId2"/>
          <a:stretch>
            <a:fillRect/>
          </a:stretch>
        </p:blipFill>
        <p:spPr>
          <a:xfrm>
            <a:off x="440601" y="2805028"/>
            <a:ext cx="8425287" cy="3454500"/>
          </a:xfrm>
          <a:prstGeom prst="rect">
            <a:avLst/>
          </a:prstGeom>
        </p:spPr>
      </p:pic>
      <p:sp>
        <p:nvSpPr>
          <p:cNvPr id="11" name="TextBox 10">
            <a:extLst>
              <a:ext uri="{FF2B5EF4-FFF2-40B4-BE49-F238E27FC236}">
                <a16:creationId xmlns:a16="http://schemas.microsoft.com/office/drawing/2014/main" id="{CAA764A6-5523-7A88-E0C3-C1531FA99D81}"/>
              </a:ext>
            </a:extLst>
          </p:cNvPr>
          <p:cNvSpPr txBox="1"/>
          <p:nvPr/>
        </p:nvSpPr>
        <p:spPr>
          <a:xfrm>
            <a:off x="440601" y="6124731"/>
            <a:ext cx="6097508" cy="184666"/>
          </a:xfrm>
          <a:prstGeom prst="rect">
            <a:avLst/>
          </a:prstGeom>
          <a:noFill/>
        </p:spPr>
        <p:txBody>
          <a:bodyPr wrap="square">
            <a:spAutoFit/>
          </a:bodyPr>
          <a:lstStyle/>
          <a:p>
            <a:r>
              <a:rPr lang="en-US" sz="600" dirty="0"/>
              <a:t>Learn Engineering, 2013, "Kalina Cycle Power Plant," YouTube video, accessed September 10, 2026, </a:t>
            </a:r>
            <a:r>
              <a:rPr lang="en-US" sz="600" dirty="0">
                <a:hlinkClick r:id="rId3"/>
              </a:rPr>
              <a:t>https://www.youtube.com/watch?v=28ckvW7FJsM</a:t>
            </a:r>
            <a:endParaRPr lang="en-US" sz="600" dirty="0"/>
          </a:p>
        </p:txBody>
      </p:sp>
    </p:spTree>
    <p:extLst>
      <p:ext uri="{BB962C8B-B14F-4D97-AF65-F5344CB8AC3E}">
        <p14:creationId xmlns:p14="http://schemas.microsoft.com/office/powerpoint/2010/main" val="17626545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350D699-1B8F-86A8-9225-DF15184C51C3}"/>
              </a:ext>
            </a:extLst>
          </p:cNvPr>
          <p:cNvSpPr txBox="1"/>
          <p:nvPr/>
        </p:nvSpPr>
        <p:spPr>
          <a:xfrm>
            <a:off x="814812" y="416459"/>
            <a:ext cx="5549774" cy="477054"/>
          </a:xfrm>
          <a:prstGeom prst="rect">
            <a:avLst/>
          </a:prstGeom>
          <a:noFill/>
        </p:spPr>
        <p:txBody>
          <a:bodyPr wrap="square" rtlCol="0">
            <a:spAutoFit/>
          </a:bodyPr>
          <a:lstStyle/>
          <a:p>
            <a:r>
              <a:rPr lang="en-US" sz="2500" b="1" u="sng" dirty="0"/>
              <a:t>Why New absorber Model</a:t>
            </a:r>
          </a:p>
        </p:txBody>
      </p:sp>
      <p:sp>
        <p:nvSpPr>
          <p:cNvPr id="3" name="TextBox 2">
            <a:extLst>
              <a:ext uri="{FF2B5EF4-FFF2-40B4-BE49-F238E27FC236}">
                <a16:creationId xmlns:a16="http://schemas.microsoft.com/office/drawing/2014/main" id="{C67637AB-431C-C548-D06A-3A1675A1FE20}"/>
              </a:ext>
            </a:extLst>
          </p:cNvPr>
          <p:cNvSpPr txBox="1"/>
          <p:nvPr/>
        </p:nvSpPr>
        <p:spPr>
          <a:xfrm>
            <a:off x="814812" y="1339913"/>
            <a:ext cx="5377759" cy="923330"/>
          </a:xfrm>
          <a:prstGeom prst="rect">
            <a:avLst/>
          </a:prstGeom>
          <a:noFill/>
        </p:spPr>
        <p:txBody>
          <a:bodyPr wrap="square" rtlCol="0">
            <a:spAutoFit/>
          </a:bodyPr>
          <a:lstStyle/>
          <a:p>
            <a:r>
              <a:rPr lang="en-US" dirty="0"/>
              <a:t>There are two existing model easily attainable </a:t>
            </a:r>
          </a:p>
          <a:p>
            <a:endParaRPr lang="en-US" dirty="0"/>
          </a:p>
          <a:p>
            <a:endParaRPr lang="en-US" dirty="0"/>
          </a:p>
        </p:txBody>
      </p:sp>
      <p:sp>
        <p:nvSpPr>
          <p:cNvPr id="5" name="TextBox 4">
            <a:extLst>
              <a:ext uri="{FF2B5EF4-FFF2-40B4-BE49-F238E27FC236}">
                <a16:creationId xmlns:a16="http://schemas.microsoft.com/office/drawing/2014/main" id="{1F522168-A7A1-3F1F-3AEF-821DBD100A5A}"/>
              </a:ext>
            </a:extLst>
          </p:cNvPr>
          <p:cNvSpPr txBox="1"/>
          <p:nvPr/>
        </p:nvSpPr>
        <p:spPr>
          <a:xfrm>
            <a:off x="7403471" y="2078576"/>
            <a:ext cx="4474676" cy="3170099"/>
          </a:xfrm>
          <a:prstGeom prst="rect">
            <a:avLst/>
          </a:prstGeom>
          <a:noFill/>
        </p:spPr>
        <p:txBody>
          <a:bodyPr wrap="square">
            <a:spAutoFit/>
          </a:bodyPr>
          <a:lstStyle/>
          <a:p>
            <a:r>
              <a:rPr lang="en-US" sz="2000" u="sng" dirty="0"/>
              <a:t>Dymola Building library Curve fit</a:t>
            </a:r>
          </a:p>
          <a:p>
            <a:endParaRPr lang="en-US" u="sng" dirty="0"/>
          </a:p>
          <a:p>
            <a:pPr marL="285750" indent="-285750">
              <a:buFont typeface="Arial" panose="020B0604020202020204" pitchFamily="34" charset="0"/>
              <a:buChar char="•"/>
            </a:pPr>
            <a:r>
              <a:rPr lang="en-US" sz="1800" dirty="0"/>
              <a:t>Curve Fit model solves for needed heat addition and uses water temperature as input</a:t>
            </a:r>
          </a:p>
          <a:p>
            <a:pPr marL="285750" indent="-285750">
              <a:buFont typeface="Arial" panose="020B0604020202020204" pitchFamily="34" charset="0"/>
              <a:buChar char="•"/>
            </a:pPr>
            <a:r>
              <a:rPr lang="en-US" dirty="0"/>
              <a:t>This is the opposite of how a CCP model would work (waste heat from Kalina cycle </a:t>
            </a:r>
            <a:r>
              <a:rPr lang="en-US" dirty="0">
                <a:sym typeface="Wingdings" panose="05000000000000000000" pitchFamily="2" charset="2"/>
              </a:rPr>
              <a:t> powers absorption</a:t>
            </a:r>
            <a:r>
              <a:rPr lang="en-US" dirty="0"/>
              <a:t>)</a:t>
            </a:r>
          </a:p>
          <a:p>
            <a:pPr marL="285750" indent="-285750">
              <a:buFont typeface="Arial" panose="020B0604020202020204" pitchFamily="34" charset="0"/>
              <a:buChar char="•"/>
            </a:pPr>
            <a:r>
              <a:rPr lang="en-US" dirty="0"/>
              <a:t>Difficult to integrate into CCP</a:t>
            </a:r>
          </a:p>
          <a:p>
            <a:pPr marL="285750" indent="-285750">
              <a:buFont typeface="Arial" panose="020B0604020202020204" pitchFamily="34" charset="0"/>
              <a:buChar char="•"/>
            </a:pPr>
            <a:r>
              <a:rPr lang="en-US" dirty="0"/>
              <a:t>( In addition to interoperation inaccuracies of </a:t>
            </a:r>
            <a:r>
              <a:rPr lang="en-US"/>
              <a:t>curve fit)</a:t>
            </a:r>
            <a:endParaRPr lang="en-US" dirty="0"/>
          </a:p>
        </p:txBody>
      </p:sp>
      <p:sp>
        <p:nvSpPr>
          <p:cNvPr id="7" name="TextBox 6">
            <a:extLst>
              <a:ext uri="{FF2B5EF4-FFF2-40B4-BE49-F238E27FC236}">
                <a16:creationId xmlns:a16="http://schemas.microsoft.com/office/drawing/2014/main" id="{B85FC527-F003-FDFC-EA80-0BDD30F71258}"/>
              </a:ext>
            </a:extLst>
          </p:cNvPr>
          <p:cNvSpPr txBox="1"/>
          <p:nvPr/>
        </p:nvSpPr>
        <p:spPr>
          <a:xfrm>
            <a:off x="1346704" y="2078576"/>
            <a:ext cx="3116655" cy="1508105"/>
          </a:xfrm>
          <a:prstGeom prst="rect">
            <a:avLst/>
          </a:prstGeom>
          <a:noFill/>
        </p:spPr>
        <p:txBody>
          <a:bodyPr wrap="square">
            <a:spAutoFit/>
          </a:bodyPr>
          <a:lstStyle/>
          <a:p>
            <a:r>
              <a:rPr lang="en-US" sz="2000" u="sng" dirty="0"/>
              <a:t>EES Steady state</a:t>
            </a:r>
          </a:p>
          <a:p>
            <a:pPr marL="285750" indent="-285750">
              <a:buFont typeface="Arial" panose="020B0604020202020204" pitchFamily="34" charset="0"/>
              <a:buChar char="•"/>
            </a:pPr>
            <a:endParaRPr lang="en-US" u="sng" dirty="0"/>
          </a:p>
          <a:p>
            <a:pPr marL="285750" indent="-285750">
              <a:buFont typeface="Arial" panose="020B0604020202020204" pitchFamily="34" charset="0"/>
              <a:buChar char="•"/>
            </a:pPr>
            <a:r>
              <a:rPr lang="en-US" dirty="0"/>
              <a:t>EES model is incapable of performing transient modeling</a:t>
            </a:r>
            <a:endParaRPr lang="en-US" sz="1800" dirty="0"/>
          </a:p>
        </p:txBody>
      </p:sp>
      <p:sp>
        <p:nvSpPr>
          <p:cNvPr id="9" name="TextBox 8">
            <a:extLst>
              <a:ext uri="{FF2B5EF4-FFF2-40B4-BE49-F238E27FC236}">
                <a16:creationId xmlns:a16="http://schemas.microsoft.com/office/drawing/2014/main" id="{A22B07F5-560B-8267-996E-60F025E75F13}"/>
              </a:ext>
            </a:extLst>
          </p:cNvPr>
          <p:cNvSpPr txBox="1"/>
          <p:nvPr/>
        </p:nvSpPr>
        <p:spPr>
          <a:xfrm>
            <a:off x="1032093" y="4779423"/>
            <a:ext cx="5954917" cy="1477328"/>
          </a:xfrm>
          <a:prstGeom prst="rect">
            <a:avLst/>
          </a:prstGeom>
          <a:noFill/>
        </p:spPr>
        <p:txBody>
          <a:bodyPr wrap="square" rtlCol="0">
            <a:spAutoFit/>
          </a:bodyPr>
          <a:lstStyle/>
          <a:p>
            <a:pPr marL="285750" indent="-285750">
              <a:buFont typeface="Arial" panose="020B0604020202020204" pitchFamily="34" charset="0"/>
              <a:buChar char="•"/>
            </a:pPr>
            <a:r>
              <a:rPr lang="en-US" dirty="0"/>
              <a:t>Both Models are incapable of modeling effects of variable heat flux</a:t>
            </a:r>
          </a:p>
          <a:p>
            <a:pPr marL="285750" indent="-285750">
              <a:buFont typeface="Arial" panose="020B0604020202020204" pitchFamily="34" charset="0"/>
              <a:buChar char="•"/>
            </a:pPr>
            <a:r>
              <a:rPr lang="en-US" dirty="0"/>
              <a:t>Eventually I would like to answer the question: How does concentrated solar contend as a heat source for absorption cycles </a:t>
            </a:r>
          </a:p>
        </p:txBody>
      </p:sp>
    </p:spTree>
    <p:extLst>
      <p:ext uri="{BB962C8B-B14F-4D97-AF65-F5344CB8AC3E}">
        <p14:creationId xmlns:p14="http://schemas.microsoft.com/office/powerpoint/2010/main" val="3835181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CF4C92-1381-25F4-92DA-DD7D0159D90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848601B-7976-CA0F-3D76-3DFE77448351}"/>
              </a:ext>
            </a:extLst>
          </p:cNvPr>
          <p:cNvSpPr txBox="1"/>
          <p:nvPr/>
        </p:nvSpPr>
        <p:spPr>
          <a:xfrm>
            <a:off x="525102" y="398352"/>
            <a:ext cx="3838668" cy="477054"/>
          </a:xfrm>
          <a:prstGeom prst="rect">
            <a:avLst/>
          </a:prstGeom>
          <a:noFill/>
        </p:spPr>
        <p:txBody>
          <a:bodyPr wrap="square" rtlCol="0">
            <a:spAutoFit/>
          </a:bodyPr>
          <a:lstStyle/>
          <a:p>
            <a:r>
              <a:rPr lang="en-US" sz="2500" b="1" u="sng" dirty="0"/>
              <a:t>Chemical Kinetics</a:t>
            </a:r>
          </a:p>
        </p:txBody>
      </p:sp>
      <p:pic>
        <p:nvPicPr>
          <p:cNvPr id="3" name="Picture 2">
            <a:extLst>
              <a:ext uri="{FF2B5EF4-FFF2-40B4-BE49-F238E27FC236}">
                <a16:creationId xmlns:a16="http://schemas.microsoft.com/office/drawing/2014/main" id="{7467EDE8-FDD1-CA30-88AE-8F462B3D4D9C}"/>
              </a:ext>
            </a:extLst>
          </p:cNvPr>
          <p:cNvPicPr>
            <a:picLocks noChangeAspect="1"/>
          </p:cNvPicPr>
          <p:nvPr/>
        </p:nvPicPr>
        <p:blipFill>
          <a:blip r:embed="rId2"/>
          <a:stretch>
            <a:fillRect/>
          </a:stretch>
        </p:blipFill>
        <p:spPr>
          <a:xfrm>
            <a:off x="6201625" y="3739276"/>
            <a:ext cx="5943600" cy="509270"/>
          </a:xfrm>
          <a:prstGeom prst="rect">
            <a:avLst/>
          </a:prstGeom>
        </p:spPr>
      </p:pic>
      <p:pic>
        <p:nvPicPr>
          <p:cNvPr id="4" name="Picture 3">
            <a:extLst>
              <a:ext uri="{FF2B5EF4-FFF2-40B4-BE49-F238E27FC236}">
                <a16:creationId xmlns:a16="http://schemas.microsoft.com/office/drawing/2014/main" id="{D7E94829-F459-0746-C3E2-24B3DC550CC8}"/>
              </a:ext>
            </a:extLst>
          </p:cNvPr>
          <p:cNvPicPr>
            <a:picLocks noChangeAspect="1"/>
          </p:cNvPicPr>
          <p:nvPr/>
        </p:nvPicPr>
        <p:blipFill>
          <a:blip r:embed="rId3"/>
          <a:stretch>
            <a:fillRect/>
          </a:stretch>
        </p:blipFill>
        <p:spPr>
          <a:xfrm>
            <a:off x="7329001" y="4460045"/>
            <a:ext cx="3308822" cy="920555"/>
          </a:xfrm>
          <a:prstGeom prst="rect">
            <a:avLst/>
          </a:prstGeom>
        </p:spPr>
      </p:pic>
      <p:pic>
        <p:nvPicPr>
          <p:cNvPr id="5" name="Picture 4">
            <a:extLst>
              <a:ext uri="{FF2B5EF4-FFF2-40B4-BE49-F238E27FC236}">
                <a16:creationId xmlns:a16="http://schemas.microsoft.com/office/drawing/2014/main" id="{10AB2955-B427-3B23-A757-018DB715C69E}"/>
              </a:ext>
            </a:extLst>
          </p:cNvPr>
          <p:cNvPicPr>
            <a:picLocks noChangeAspect="1"/>
          </p:cNvPicPr>
          <p:nvPr/>
        </p:nvPicPr>
        <p:blipFill>
          <a:blip r:embed="rId4"/>
          <a:stretch>
            <a:fillRect/>
          </a:stretch>
        </p:blipFill>
        <p:spPr>
          <a:xfrm>
            <a:off x="6468921" y="5592099"/>
            <a:ext cx="4635500" cy="1016000"/>
          </a:xfrm>
          <a:prstGeom prst="rect">
            <a:avLst/>
          </a:prstGeom>
        </p:spPr>
      </p:pic>
      <p:sp>
        <p:nvSpPr>
          <p:cNvPr id="6" name="TextBox 5">
            <a:extLst>
              <a:ext uri="{FF2B5EF4-FFF2-40B4-BE49-F238E27FC236}">
                <a16:creationId xmlns:a16="http://schemas.microsoft.com/office/drawing/2014/main" id="{42B2FCB5-4CC8-68D8-E50D-114AC6A73D92}"/>
              </a:ext>
            </a:extLst>
          </p:cNvPr>
          <p:cNvSpPr txBox="1"/>
          <p:nvPr/>
        </p:nvSpPr>
        <p:spPr>
          <a:xfrm>
            <a:off x="6776518" y="3244334"/>
            <a:ext cx="5531668" cy="369332"/>
          </a:xfrm>
          <a:prstGeom prst="rect">
            <a:avLst/>
          </a:prstGeom>
          <a:noFill/>
        </p:spPr>
        <p:txBody>
          <a:bodyPr wrap="square" rtlCol="0">
            <a:spAutoFit/>
          </a:bodyPr>
          <a:lstStyle/>
          <a:p>
            <a:r>
              <a:rPr lang="en-US" u="sng" dirty="0"/>
              <a:t>Currently identified Equation from literature</a:t>
            </a:r>
          </a:p>
        </p:txBody>
      </p:sp>
      <p:sp>
        <p:nvSpPr>
          <p:cNvPr id="7" name="TextBox 6">
            <a:extLst>
              <a:ext uri="{FF2B5EF4-FFF2-40B4-BE49-F238E27FC236}">
                <a16:creationId xmlns:a16="http://schemas.microsoft.com/office/drawing/2014/main" id="{480EC4A0-63AD-E285-E4FB-515C7AC8C82C}"/>
              </a:ext>
            </a:extLst>
          </p:cNvPr>
          <p:cNvSpPr txBox="1"/>
          <p:nvPr/>
        </p:nvSpPr>
        <p:spPr>
          <a:xfrm>
            <a:off x="3817546" y="1095230"/>
            <a:ext cx="4599161" cy="1477328"/>
          </a:xfrm>
          <a:prstGeom prst="rect">
            <a:avLst/>
          </a:prstGeom>
          <a:noFill/>
        </p:spPr>
        <p:txBody>
          <a:bodyPr wrap="square" rtlCol="0">
            <a:spAutoFit/>
          </a:bodyPr>
          <a:lstStyle/>
          <a:p>
            <a:r>
              <a:rPr lang="en-US" dirty="0"/>
              <a:t>The water absorbing ammonia is the most important interaction in the absorber </a:t>
            </a:r>
          </a:p>
          <a:p>
            <a:pPr marL="285750" indent="-285750">
              <a:buFont typeface="Arial" panose="020B0604020202020204" pitchFamily="34" charset="0"/>
              <a:buChar char="•"/>
            </a:pPr>
            <a:r>
              <a:rPr lang="en-US" dirty="0"/>
              <a:t>Absorption Rate </a:t>
            </a:r>
          </a:p>
          <a:p>
            <a:pPr marL="285750" indent="-285750">
              <a:buFont typeface="Arial" panose="020B0604020202020204" pitchFamily="34" charset="0"/>
              <a:buChar char="•"/>
            </a:pPr>
            <a:r>
              <a:rPr lang="en-US" dirty="0"/>
              <a:t>Water absorption capacity </a:t>
            </a:r>
          </a:p>
          <a:p>
            <a:pPr marL="285750" indent="-285750">
              <a:buFont typeface="Arial" panose="020B0604020202020204" pitchFamily="34" charset="0"/>
              <a:buChar char="•"/>
            </a:pPr>
            <a:r>
              <a:rPr lang="en-US" dirty="0"/>
              <a:t>Flow Rate Out</a:t>
            </a:r>
          </a:p>
        </p:txBody>
      </p:sp>
      <p:pic>
        <p:nvPicPr>
          <p:cNvPr id="9" name="Picture 8">
            <a:extLst>
              <a:ext uri="{FF2B5EF4-FFF2-40B4-BE49-F238E27FC236}">
                <a16:creationId xmlns:a16="http://schemas.microsoft.com/office/drawing/2014/main" id="{8FCED5FC-AEB0-DCD3-3A85-8D75360B91BD}"/>
              </a:ext>
            </a:extLst>
          </p:cNvPr>
          <p:cNvPicPr>
            <a:picLocks noChangeAspect="1"/>
          </p:cNvPicPr>
          <p:nvPr/>
        </p:nvPicPr>
        <p:blipFill>
          <a:blip r:embed="rId5"/>
          <a:stretch>
            <a:fillRect/>
          </a:stretch>
        </p:blipFill>
        <p:spPr>
          <a:xfrm>
            <a:off x="200685" y="1413414"/>
            <a:ext cx="3701358" cy="4937736"/>
          </a:xfrm>
          <a:prstGeom prst="rect">
            <a:avLst/>
          </a:prstGeom>
        </p:spPr>
      </p:pic>
    </p:spTree>
    <p:extLst>
      <p:ext uri="{BB962C8B-B14F-4D97-AF65-F5344CB8AC3E}">
        <p14:creationId xmlns:p14="http://schemas.microsoft.com/office/powerpoint/2010/main" val="40112137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B9D2F53-9771-2983-2A2D-B476308CB1B7}"/>
              </a:ext>
            </a:extLst>
          </p:cNvPr>
          <p:cNvSpPr txBox="1"/>
          <p:nvPr/>
        </p:nvSpPr>
        <p:spPr>
          <a:xfrm>
            <a:off x="380245" y="334978"/>
            <a:ext cx="4517680" cy="477054"/>
          </a:xfrm>
          <a:prstGeom prst="rect">
            <a:avLst/>
          </a:prstGeom>
          <a:noFill/>
        </p:spPr>
        <p:txBody>
          <a:bodyPr wrap="square" rtlCol="0">
            <a:spAutoFit/>
          </a:bodyPr>
          <a:lstStyle/>
          <a:p>
            <a:r>
              <a:rPr lang="en-US" sz="2500" b="1" u="sng" dirty="0"/>
              <a:t>Criteria for Comparison </a:t>
            </a:r>
          </a:p>
        </p:txBody>
      </p:sp>
      <p:sp>
        <p:nvSpPr>
          <p:cNvPr id="5" name="TextBox 4">
            <a:extLst>
              <a:ext uri="{FF2B5EF4-FFF2-40B4-BE49-F238E27FC236}">
                <a16:creationId xmlns:a16="http://schemas.microsoft.com/office/drawing/2014/main" id="{60C1662B-107F-48C6-3E3E-C02506B39DB1}"/>
              </a:ext>
            </a:extLst>
          </p:cNvPr>
          <p:cNvSpPr txBox="1"/>
          <p:nvPr/>
        </p:nvSpPr>
        <p:spPr>
          <a:xfrm>
            <a:off x="2496494" y="944467"/>
            <a:ext cx="2401431" cy="369332"/>
          </a:xfrm>
          <a:prstGeom prst="rect">
            <a:avLst/>
          </a:prstGeom>
          <a:noFill/>
        </p:spPr>
        <p:txBody>
          <a:bodyPr wrap="square">
            <a:spAutoFit/>
          </a:bodyPr>
          <a:lstStyle/>
          <a:p>
            <a:r>
              <a:rPr lang="en-US" sz="1800" b="1" u="sng" dirty="0"/>
              <a:t>Simplest Model</a:t>
            </a:r>
          </a:p>
        </p:txBody>
      </p:sp>
      <p:graphicFrame>
        <p:nvGraphicFramePr>
          <p:cNvPr id="7" name="Table 6">
            <a:extLst>
              <a:ext uri="{FF2B5EF4-FFF2-40B4-BE49-F238E27FC236}">
                <a16:creationId xmlns:a16="http://schemas.microsoft.com/office/drawing/2014/main" id="{601CC8A4-6174-0064-AD5F-423117A7E8BA}"/>
              </a:ext>
            </a:extLst>
          </p:cNvPr>
          <p:cNvGraphicFramePr>
            <a:graphicFrameLocks noGrp="1"/>
          </p:cNvGraphicFramePr>
          <p:nvPr>
            <p:extLst>
              <p:ext uri="{D42A27DB-BD31-4B8C-83A1-F6EECF244321}">
                <p14:modId xmlns:p14="http://schemas.microsoft.com/office/powerpoint/2010/main" val="1199999400"/>
              </p:ext>
            </p:extLst>
          </p:nvPr>
        </p:nvGraphicFramePr>
        <p:xfrm>
          <a:off x="263555" y="1918991"/>
          <a:ext cx="5738892" cy="2457146"/>
        </p:xfrm>
        <a:graphic>
          <a:graphicData uri="http://schemas.openxmlformats.org/drawingml/2006/table">
            <a:tbl>
              <a:tblPr firstRow="1" bandRow="1">
                <a:tableStyleId>{5C22544A-7EE6-4342-B048-85BDC9FD1C3A}</a:tableStyleId>
              </a:tblPr>
              <a:tblGrid>
                <a:gridCol w="1912964">
                  <a:extLst>
                    <a:ext uri="{9D8B030D-6E8A-4147-A177-3AD203B41FA5}">
                      <a16:colId xmlns:a16="http://schemas.microsoft.com/office/drawing/2014/main" val="2088366013"/>
                    </a:ext>
                  </a:extLst>
                </a:gridCol>
                <a:gridCol w="1912964">
                  <a:extLst>
                    <a:ext uri="{9D8B030D-6E8A-4147-A177-3AD203B41FA5}">
                      <a16:colId xmlns:a16="http://schemas.microsoft.com/office/drawing/2014/main" val="2959142197"/>
                    </a:ext>
                  </a:extLst>
                </a:gridCol>
                <a:gridCol w="1912964">
                  <a:extLst>
                    <a:ext uri="{9D8B030D-6E8A-4147-A177-3AD203B41FA5}">
                      <a16:colId xmlns:a16="http://schemas.microsoft.com/office/drawing/2014/main" val="2816296770"/>
                    </a:ext>
                  </a:extLst>
                </a:gridCol>
              </a:tblGrid>
              <a:tr h="657830">
                <a:tc>
                  <a:txBody>
                    <a:bodyPr/>
                    <a:lstStyle/>
                    <a:p>
                      <a:pPr algn="ctr"/>
                      <a:r>
                        <a:rPr lang="en-US" dirty="0"/>
                        <a:t>Ammonia</a:t>
                      </a:r>
                    </a:p>
                  </a:txBody>
                  <a:tcPr/>
                </a:tc>
                <a:tc>
                  <a:txBody>
                    <a:bodyPr/>
                    <a:lstStyle/>
                    <a:p>
                      <a:pPr algn="ctr"/>
                      <a:r>
                        <a:rPr lang="en-US" dirty="0"/>
                        <a:t>Water ( week Solution) </a:t>
                      </a:r>
                    </a:p>
                  </a:txBody>
                  <a:tcPr/>
                </a:tc>
                <a:tc>
                  <a:txBody>
                    <a:bodyPr/>
                    <a:lstStyle/>
                    <a:p>
                      <a:pPr algn="ctr"/>
                      <a:r>
                        <a:rPr lang="en-US" dirty="0"/>
                        <a:t>Absorber</a:t>
                      </a:r>
                    </a:p>
                  </a:txBody>
                  <a:tcPr/>
                </a:tc>
                <a:extLst>
                  <a:ext uri="{0D108BD9-81ED-4DB2-BD59-A6C34878D82A}">
                    <a16:rowId xmlns:a16="http://schemas.microsoft.com/office/drawing/2014/main" val="1121755434"/>
                  </a:ext>
                </a:extLst>
              </a:tr>
              <a:tr h="386412">
                <a:tc>
                  <a:txBody>
                    <a:bodyPr/>
                    <a:lstStyle/>
                    <a:p>
                      <a:pPr algn="ctr"/>
                      <a:r>
                        <a:rPr lang="en-US" dirty="0"/>
                        <a:t>Mass Flow Rate</a:t>
                      </a:r>
                    </a:p>
                  </a:txBody>
                  <a:tcPr/>
                </a:tc>
                <a:tc>
                  <a:txBody>
                    <a:bodyPr/>
                    <a:lstStyle/>
                    <a:p>
                      <a:pPr algn="ctr"/>
                      <a:r>
                        <a:rPr lang="en-US" dirty="0"/>
                        <a:t>Mass Flow Rate</a:t>
                      </a:r>
                    </a:p>
                  </a:txBody>
                  <a:tcPr/>
                </a:tc>
                <a:tc>
                  <a:txBody>
                    <a:bodyPr/>
                    <a:lstStyle/>
                    <a:p>
                      <a:pPr algn="ctr"/>
                      <a:r>
                        <a:rPr lang="en-US" dirty="0"/>
                        <a:t>Absorption rate </a:t>
                      </a:r>
                    </a:p>
                  </a:txBody>
                  <a:tcPr/>
                </a:tc>
                <a:extLst>
                  <a:ext uri="{0D108BD9-81ED-4DB2-BD59-A6C34878D82A}">
                    <a16:rowId xmlns:a16="http://schemas.microsoft.com/office/drawing/2014/main" val="986185618"/>
                  </a:ext>
                </a:extLst>
              </a:tr>
              <a:tr h="386412">
                <a:tc>
                  <a:txBody>
                    <a:bodyPr/>
                    <a:lstStyle/>
                    <a:p>
                      <a:pPr algn="ctr"/>
                      <a:r>
                        <a:rPr lang="en-US" dirty="0"/>
                        <a:t>Temperature </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Temperature </a:t>
                      </a:r>
                    </a:p>
                  </a:txBody>
                  <a:tcPr/>
                </a:tc>
                <a:tc>
                  <a:txBody>
                    <a:bodyPr/>
                    <a:lstStyle/>
                    <a:p>
                      <a:pPr algn="ctr"/>
                      <a:r>
                        <a:rPr lang="en-US" dirty="0"/>
                        <a:t>Operating pressure </a:t>
                      </a:r>
                    </a:p>
                  </a:txBody>
                  <a:tcPr/>
                </a:tc>
                <a:extLst>
                  <a:ext uri="{0D108BD9-81ED-4DB2-BD59-A6C34878D82A}">
                    <a16:rowId xmlns:a16="http://schemas.microsoft.com/office/drawing/2014/main" val="761610321"/>
                  </a:ext>
                </a:extLst>
              </a:tr>
              <a:tr h="386412">
                <a:tc>
                  <a:txBody>
                    <a:bodyPr/>
                    <a:lstStyle/>
                    <a:p>
                      <a:pPr algn="ctr"/>
                      <a:r>
                        <a:rPr lang="en-US" dirty="0"/>
                        <a:t>Pressure</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Pressure</a:t>
                      </a:r>
                    </a:p>
                  </a:txBody>
                  <a:tcPr/>
                </a:tc>
                <a:tc>
                  <a:txBody>
                    <a:bodyPr/>
                    <a:lstStyle/>
                    <a:p>
                      <a:pPr algn="ctr"/>
                      <a:endParaRPr lang="en-US" dirty="0"/>
                    </a:p>
                  </a:txBody>
                  <a:tcPr/>
                </a:tc>
                <a:extLst>
                  <a:ext uri="{0D108BD9-81ED-4DB2-BD59-A6C34878D82A}">
                    <a16:rowId xmlns:a16="http://schemas.microsoft.com/office/drawing/2014/main" val="3457087654"/>
                  </a:ext>
                </a:extLst>
              </a:tr>
              <a:tr h="386412">
                <a:tc>
                  <a:txBody>
                    <a:bodyPr/>
                    <a:lstStyle/>
                    <a:p>
                      <a:pPr algn="ctr"/>
                      <a:endParaRPr lang="en-US" dirty="0"/>
                    </a:p>
                  </a:txBody>
                  <a:tcPr/>
                </a:tc>
                <a:tc>
                  <a:txBody>
                    <a:bodyPr/>
                    <a:lstStyle/>
                    <a:p>
                      <a:pPr algn="ctr"/>
                      <a:r>
                        <a:rPr lang="en-US" dirty="0"/>
                        <a:t>Quality </a:t>
                      </a:r>
                    </a:p>
                  </a:txBody>
                  <a:tcPr/>
                </a:tc>
                <a:tc>
                  <a:txBody>
                    <a:bodyPr/>
                    <a:lstStyle/>
                    <a:p>
                      <a:pPr algn="ctr"/>
                      <a:endParaRPr lang="en-US" dirty="0"/>
                    </a:p>
                  </a:txBody>
                  <a:tcPr/>
                </a:tc>
                <a:extLst>
                  <a:ext uri="{0D108BD9-81ED-4DB2-BD59-A6C34878D82A}">
                    <a16:rowId xmlns:a16="http://schemas.microsoft.com/office/drawing/2014/main" val="4006269934"/>
                  </a:ext>
                </a:extLst>
              </a:tr>
            </a:tbl>
          </a:graphicData>
        </a:graphic>
      </p:graphicFrame>
      <p:sp>
        <p:nvSpPr>
          <p:cNvPr id="8" name="TextBox 7">
            <a:extLst>
              <a:ext uri="{FF2B5EF4-FFF2-40B4-BE49-F238E27FC236}">
                <a16:creationId xmlns:a16="http://schemas.microsoft.com/office/drawing/2014/main" id="{28D2AC0B-64D0-44DF-057C-AC9F455DFD14}"/>
              </a:ext>
            </a:extLst>
          </p:cNvPr>
          <p:cNvSpPr txBox="1"/>
          <p:nvPr/>
        </p:nvSpPr>
        <p:spPr>
          <a:xfrm>
            <a:off x="2336294" y="1549659"/>
            <a:ext cx="2335794" cy="369332"/>
          </a:xfrm>
          <a:prstGeom prst="rect">
            <a:avLst/>
          </a:prstGeom>
          <a:noFill/>
        </p:spPr>
        <p:txBody>
          <a:bodyPr wrap="square" rtlCol="0">
            <a:spAutoFit/>
          </a:bodyPr>
          <a:lstStyle/>
          <a:p>
            <a:r>
              <a:rPr lang="en-US" i="1" u="sng" dirty="0"/>
              <a:t>Knowns (model Input)</a:t>
            </a:r>
          </a:p>
        </p:txBody>
      </p:sp>
      <p:graphicFrame>
        <p:nvGraphicFramePr>
          <p:cNvPr id="9" name="Table 8">
            <a:extLst>
              <a:ext uri="{FF2B5EF4-FFF2-40B4-BE49-F238E27FC236}">
                <a16:creationId xmlns:a16="http://schemas.microsoft.com/office/drawing/2014/main" id="{2703E83D-A4A9-B8BE-DF81-A9D9880BD1DF}"/>
              </a:ext>
            </a:extLst>
          </p:cNvPr>
          <p:cNvGraphicFramePr>
            <a:graphicFrameLocks noGrp="1"/>
          </p:cNvGraphicFramePr>
          <p:nvPr>
            <p:extLst>
              <p:ext uri="{D42A27DB-BD31-4B8C-83A1-F6EECF244321}">
                <p14:modId xmlns:p14="http://schemas.microsoft.com/office/powerpoint/2010/main" val="487816461"/>
              </p:ext>
            </p:extLst>
          </p:nvPr>
        </p:nvGraphicFramePr>
        <p:xfrm>
          <a:off x="2668759" y="4989365"/>
          <a:ext cx="1568264" cy="391605"/>
        </p:xfrm>
        <a:graphic>
          <a:graphicData uri="http://schemas.openxmlformats.org/drawingml/2006/table">
            <a:tbl>
              <a:tblPr firstRow="1" bandRow="1">
                <a:tableStyleId>{5C22544A-7EE6-4342-B048-85BDC9FD1C3A}</a:tableStyleId>
              </a:tblPr>
              <a:tblGrid>
                <a:gridCol w="1568264">
                  <a:extLst>
                    <a:ext uri="{9D8B030D-6E8A-4147-A177-3AD203B41FA5}">
                      <a16:colId xmlns:a16="http://schemas.microsoft.com/office/drawing/2014/main" val="969215877"/>
                    </a:ext>
                  </a:extLst>
                </a:gridCol>
              </a:tblGrid>
              <a:tr h="391605">
                <a:tc>
                  <a:txBody>
                    <a:bodyPr/>
                    <a:lstStyle/>
                    <a:p>
                      <a:r>
                        <a:rPr lang="en-US" dirty="0"/>
                        <a:t>Heat Release</a:t>
                      </a:r>
                    </a:p>
                  </a:txBody>
                  <a:tcPr/>
                </a:tc>
                <a:extLst>
                  <a:ext uri="{0D108BD9-81ED-4DB2-BD59-A6C34878D82A}">
                    <a16:rowId xmlns:a16="http://schemas.microsoft.com/office/drawing/2014/main" val="279752377"/>
                  </a:ext>
                </a:extLst>
              </a:tr>
            </a:tbl>
          </a:graphicData>
        </a:graphic>
      </p:graphicFrame>
      <p:sp>
        <p:nvSpPr>
          <p:cNvPr id="10" name="TextBox 9">
            <a:extLst>
              <a:ext uri="{FF2B5EF4-FFF2-40B4-BE49-F238E27FC236}">
                <a16:creationId xmlns:a16="http://schemas.microsoft.com/office/drawing/2014/main" id="{323C7793-F170-BD36-7272-86441A0F7534}"/>
              </a:ext>
            </a:extLst>
          </p:cNvPr>
          <p:cNvSpPr txBox="1"/>
          <p:nvPr/>
        </p:nvSpPr>
        <p:spPr>
          <a:xfrm>
            <a:off x="2496494" y="4567834"/>
            <a:ext cx="2299581" cy="369332"/>
          </a:xfrm>
          <a:prstGeom prst="rect">
            <a:avLst/>
          </a:prstGeom>
          <a:noFill/>
        </p:spPr>
        <p:txBody>
          <a:bodyPr wrap="square" rtlCol="0">
            <a:spAutoFit/>
          </a:bodyPr>
          <a:lstStyle/>
          <a:p>
            <a:r>
              <a:rPr lang="en-US" i="1" u="sng" dirty="0"/>
              <a:t>Output to compare</a:t>
            </a:r>
          </a:p>
        </p:txBody>
      </p:sp>
      <p:graphicFrame>
        <p:nvGraphicFramePr>
          <p:cNvPr id="12" name="Table 11">
            <a:extLst>
              <a:ext uri="{FF2B5EF4-FFF2-40B4-BE49-F238E27FC236}">
                <a16:creationId xmlns:a16="http://schemas.microsoft.com/office/drawing/2014/main" id="{1EDAFE54-FBF7-E21A-0AD3-BE4F8A4EBC2A}"/>
              </a:ext>
            </a:extLst>
          </p:cNvPr>
          <p:cNvGraphicFramePr>
            <a:graphicFrameLocks noGrp="1"/>
          </p:cNvGraphicFramePr>
          <p:nvPr>
            <p:extLst>
              <p:ext uri="{D42A27DB-BD31-4B8C-83A1-F6EECF244321}">
                <p14:modId xmlns:p14="http://schemas.microsoft.com/office/powerpoint/2010/main" val="3176054013"/>
              </p:ext>
            </p:extLst>
          </p:nvPr>
        </p:nvGraphicFramePr>
        <p:xfrm>
          <a:off x="7777430" y="1918991"/>
          <a:ext cx="3825928" cy="2070734"/>
        </p:xfrm>
        <a:graphic>
          <a:graphicData uri="http://schemas.openxmlformats.org/drawingml/2006/table">
            <a:tbl>
              <a:tblPr firstRow="1" bandRow="1">
                <a:tableStyleId>{5C22544A-7EE6-4342-B048-85BDC9FD1C3A}</a:tableStyleId>
              </a:tblPr>
              <a:tblGrid>
                <a:gridCol w="1912964">
                  <a:extLst>
                    <a:ext uri="{9D8B030D-6E8A-4147-A177-3AD203B41FA5}">
                      <a16:colId xmlns:a16="http://schemas.microsoft.com/office/drawing/2014/main" val="2088366013"/>
                    </a:ext>
                  </a:extLst>
                </a:gridCol>
                <a:gridCol w="1912964">
                  <a:extLst>
                    <a:ext uri="{9D8B030D-6E8A-4147-A177-3AD203B41FA5}">
                      <a16:colId xmlns:a16="http://schemas.microsoft.com/office/drawing/2014/main" val="2816296770"/>
                    </a:ext>
                  </a:extLst>
                </a:gridCol>
              </a:tblGrid>
              <a:tr h="657830">
                <a:tc>
                  <a:txBody>
                    <a:bodyPr/>
                    <a:lstStyle/>
                    <a:p>
                      <a:pPr algn="ctr"/>
                      <a:r>
                        <a:rPr lang="en-US" dirty="0"/>
                        <a:t>Ammonia</a:t>
                      </a:r>
                    </a:p>
                  </a:txBody>
                  <a:tcPr/>
                </a:tc>
                <a:tc>
                  <a:txBody>
                    <a:bodyPr/>
                    <a:lstStyle/>
                    <a:p>
                      <a:pPr algn="ctr"/>
                      <a:r>
                        <a:rPr lang="en-US" dirty="0"/>
                        <a:t>Absorber</a:t>
                      </a:r>
                    </a:p>
                  </a:txBody>
                  <a:tcPr/>
                </a:tc>
                <a:extLst>
                  <a:ext uri="{0D108BD9-81ED-4DB2-BD59-A6C34878D82A}">
                    <a16:rowId xmlns:a16="http://schemas.microsoft.com/office/drawing/2014/main" val="1121755434"/>
                  </a:ext>
                </a:extLst>
              </a:tr>
              <a:tr h="386412">
                <a:tc>
                  <a:txBody>
                    <a:bodyPr/>
                    <a:lstStyle/>
                    <a:p>
                      <a:pPr algn="ctr"/>
                      <a:r>
                        <a:rPr lang="en-US" dirty="0"/>
                        <a:t>Mass Flow Rate</a:t>
                      </a:r>
                    </a:p>
                  </a:txBody>
                  <a:tcPr/>
                </a:tc>
                <a:tc>
                  <a:txBody>
                    <a:bodyPr/>
                    <a:lstStyle/>
                    <a:p>
                      <a:pPr algn="ctr"/>
                      <a:r>
                        <a:rPr lang="en-US" dirty="0"/>
                        <a:t>Absorption rate </a:t>
                      </a:r>
                    </a:p>
                  </a:txBody>
                  <a:tcPr/>
                </a:tc>
                <a:extLst>
                  <a:ext uri="{0D108BD9-81ED-4DB2-BD59-A6C34878D82A}">
                    <a16:rowId xmlns:a16="http://schemas.microsoft.com/office/drawing/2014/main" val="986185618"/>
                  </a:ext>
                </a:extLst>
              </a:tr>
              <a:tr h="386412">
                <a:tc>
                  <a:txBody>
                    <a:bodyPr/>
                    <a:lstStyle/>
                    <a:p>
                      <a:pPr algn="ctr"/>
                      <a:r>
                        <a:rPr lang="en-US" dirty="0"/>
                        <a:t>Temperature </a:t>
                      </a:r>
                    </a:p>
                  </a:txBody>
                  <a:tcPr/>
                </a:tc>
                <a:tc>
                  <a:txBody>
                    <a:bodyPr/>
                    <a:lstStyle/>
                    <a:p>
                      <a:pPr algn="ctr"/>
                      <a:r>
                        <a:rPr lang="en-US" dirty="0"/>
                        <a:t>Operating pressure </a:t>
                      </a:r>
                    </a:p>
                  </a:txBody>
                  <a:tcPr/>
                </a:tc>
                <a:extLst>
                  <a:ext uri="{0D108BD9-81ED-4DB2-BD59-A6C34878D82A}">
                    <a16:rowId xmlns:a16="http://schemas.microsoft.com/office/drawing/2014/main" val="761610321"/>
                  </a:ext>
                </a:extLst>
              </a:tr>
              <a:tr h="386412">
                <a:tc>
                  <a:txBody>
                    <a:bodyPr/>
                    <a:lstStyle/>
                    <a:p>
                      <a:pPr algn="ctr"/>
                      <a:r>
                        <a:rPr lang="en-US" dirty="0"/>
                        <a:t>Pressure</a:t>
                      </a:r>
                    </a:p>
                  </a:txBody>
                  <a:tcPr/>
                </a:tc>
                <a:tc>
                  <a:txBody>
                    <a:bodyPr/>
                    <a:lstStyle/>
                    <a:p>
                      <a:pPr algn="ctr"/>
                      <a:r>
                        <a:rPr lang="en-US" dirty="0"/>
                        <a:t>Heat Flux in</a:t>
                      </a:r>
                    </a:p>
                  </a:txBody>
                  <a:tcPr/>
                </a:tc>
                <a:extLst>
                  <a:ext uri="{0D108BD9-81ED-4DB2-BD59-A6C34878D82A}">
                    <a16:rowId xmlns:a16="http://schemas.microsoft.com/office/drawing/2014/main" val="3457087654"/>
                  </a:ext>
                </a:extLst>
              </a:tr>
            </a:tbl>
          </a:graphicData>
        </a:graphic>
      </p:graphicFrame>
      <p:sp>
        <p:nvSpPr>
          <p:cNvPr id="14" name="TextBox 13">
            <a:extLst>
              <a:ext uri="{FF2B5EF4-FFF2-40B4-BE49-F238E27FC236}">
                <a16:creationId xmlns:a16="http://schemas.microsoft.com/office/drawing/2014/main" id="{32FA84E3-1DE9-FCE1-E834-16808F0A0E96}"/>
              </a:ext>
            </a:extLst>
          </p:cNvPr>
          <p:cNvSpPr txBox="1"/>
          <p:nvPr/>
        </p:nvSpPr>
        <p:spPr>
          <a:xfrm>
            <a:off x="8741877" y="996238"/>
            <a:ext cx="1551914" cy="369332"/>
          </a:xfrm>
          <a:prstGeom prst="rect">
            <a:avLst/>
          </a:prstGeom>
          <a:noFill/>
        </p:spPr>
        <p:txBody>
          <a:bodyPr wrap="square">
            <a:spAutoFit/>
          </a:bodyPr>
          <a:lstStyle/>
          <a:p>
            <a:r>
              <a:rPr lang="en-US" b="1" u="sng" dirty="0"/>
              <a:t>Final </a:t>
            </a:r>
            <a:r>
              <a:rPr lang="en-US" sz="1800" b="1" u="sng" dirty="0"/>
              <a:t>Model</a:t>
            </a:r>
          </a:p>
        </p:txBody>
      </p:sp>
      <p:sp>
        <p:nvSpPr>
          <p:cNvPr id="16" name="TextBox 15">
            <a:extLst>
              <a:ext uri="{FF2B5EF4-FFF2-40B4-BE49-F238E27FC236}">
                <a16:creationId xmlns:a16="http://schemas.microsoft.com/office/drawing/2014/main" id="{54029863-EBF5-AFC3-6265-E023C3ED0F98}"/>
              </a:ext>
            </a:extLst>
          </p:cNvPr>
          <p:cNvSpPr txBox="1"/>
          <p:nvPr/>
        </p:nvSpPr>
        <p:spPr>
          <a:xfrm>
            <a:off x="8732318" y="4259942"/>
            <a:ext cx="2299581" cy="369332"/>
          </a:xfrm>
          <a:prstGeom prst="rect">
            <a:avLst/>
          </a:prstGeom>
          <a:noFill/>
        </p:spPr>
        <p:txBody>
          <a:bodyPr wrap="square" rtlCol="0">
            <a:spAutoFit/>
          </a:bodyPr>
          <a:lstStyle/>
          <a:p>
            <a:r>
              <a:rPr lang="en-US" i="1" u="sng" dirty="0"/>
              <a:t>Output to compare</a:t>
            </a:r>
          </a:p>
        </p:txBody>
      </p:sp>
      <p:graphicFrame>
        <p:nvGraphicFramePr>
          <p:cNvPr id="17" name="Table 16">
            <a:extLst>
              <a:ext uri="{FF2B5EF4-FFF2-40B4-BE49-F238E27FC236}">
                <a16:creationId xmlns:a16="http://schemas.microsoft.com/office/drawing/2014/main" id="{1FC83FD6-050F-CEAC-F4FB-B664607F3AA5}"/>
              </a:ext>
            </a:extLst>
          </p:cNvPr>
          <p:cNvGraphicFramePr>
            <a:graphicFrameLocks noGrp="1"/>
          </p:cNvGraphicFramePr>
          <p:nvPr>
            <p:extLst>
              <p:ext uri="{D42A27DB-BD31-4B8C-83A1-F6EECF244321}">
                <p14:modId xmlns:p14="http://schemas.microsoft.com/office/powerpoint/2010/main" val="4089544975"/>
              </p:ext>
            </p:extLst>
          </p:nvPr>
        </p:nvGraphicFramePr>
        <p:xfrm>
          <a:off x="6953061" y="4629275"/>
          <a:ext cx="5078994" cy="2084787"/>
        </p:xfrm>
        <a:graphic>
          <a:graphicData uri="http://schemas.openxmlformats.org/drawingml/2006/table">
            <a:tbl>
              <a:tblPr firstRow="1" bandRow="1">
                <a:tableStyleId>{5C22544A-7EE6-4342-B048-85BDC9FD1C3A}</a:tableStyleId>
              </a:tblPr>
              <a:tblGrid>
                <a:gridCol w="2539497">
                  <a:extLst>
                    <a:ext uri="{9D8B030D-6E8A-4147-A177-3AD203B41FA5}">
                      <a16:colId xmlns:a16="http://schemas.microsoft.com/office/drawing/2014/main" val="380850099"/>
                    </a:ext>
                  </a:extLst>
                </a:gridCol>
                <a:gridCol w="2539497">
                  <a:extLst>
                    <a:ext uri="{9D8B030D-6E8A-4147-A177-3AD203B41FA5}">
                      <a16:colId xmlns:a16="http://schemas.microsoft.com/office/drawing/2014/main" val="3172051716"/>
                    </a:ext>
                  </a:extLst>
                </a:gridCol>
              </a:tblGrid>
              <a:tr h="642337">
                <a:tc>
                  <a:txBody>
                    <a:bodyPr/>
                    <a:lstStyle/>
                    <a:p>
                      <a:pPr algn="ctr"/>
                      <a:r>
                        <a:rPr lang="en-US" dirty="0"/>
                        <a:t>Water </a:t>
                      </a:r>
                    </a:p>
                  </a:txBody>
                  <a:tcPr/>
                </a:tc>
                <a:tc>
                  <a:txBody>
                    <a:bodyPr/>
                    <a:lstStyle/>
                    <a:p>
                      <a:pPr algn="ctr"/>
                      <a:r>
                        <a:rPr lang="en-US" dirty="0"/>
                        <a:t>Absorber </a:t>
                      </a:r>
                    </a:p>
                  </a:txBody>
                  <a:tcPr/>
                </a:tc>
                <a:extLst>
                  <a:ext uri="{0D108BD9-81ED-4DB2-BD59-A6C34878D82A}">
                    <a16:rowId xmlns:a16="http://schemas.microsoft.com/office/drawing/2014/main" val="3558627542"/>
                  </a:ext>
                </a:extLst>
              </a:tr>
              <a:tr h="401185">
                <a:tc>
                  <a:txBody>
                    <a:bodyPr/>
                    <a:lstStyle/>
                    <a:p>
                      <a:pPr algn="ctr"/>
                      <a:r>
                        <a:rPr lang="en-US" dirty="0"/>
                        <a:t>Temperature </a:t>
                      </a:r>
                    </a:p>
                  </a:txBody>
                  <a:tcPr/>
                </a:tc>
                <a:tc>
                  <a:txBody>
                    <a:bodyPr/>
                    <a:lstStyle/>
                    <a:p>
                      <a:pPr algn="ctr"/>
                      <a:r>
                        <a:rPr lang="en-US" dirty="0"/>
                        <a:t>Heat release</a:t>
                      </a:r>
                    </a:p>
                  </a:txBody>
                  <a:tcPr/>
                </a:tc>
                <a:extLst>
                  <a:ext uri="{0D108BD9-81ED-4DB2-BD59-A6C34878D82A}">
                    <a16:rowId xmlns:a16="http://schemas.microsoft.com/office/drawing/2014/main" val="1906877973"/>
                  </a:ext>
                </a:extLst>
              </a:tr>
              <a:tr h="625584">
                <a:tc>
                  <a:txBody>
                    <a:bodyPr/>
                    <a:lstStyle/>
                    <a:p>
                      <a:pPr algn="ctr"/>
                      <a:r>
                        <a:rPr lang="en-US" dirty="0"/>
                        <a:t>Mass Flow Rate</a:t>
                      </a:r>
                    </a:p>
                  </a:txBody>
                  <a:tcPr/>
                </a:tc>
                <a:tc>
                  <a:txBody>
                    <a:bodyPr/>
                    <a:lstStyle/>
                    <a:p>
                      <a:pPr algn="ctr"/>
                      <a:r>
                        <a:rPr lang="en-US" dirty="0"/>
                        <a:t>Strong solution mass flow</a:t>
                      </a:r>
                    </a:p>
                  </a:txBody>
                  <a:tcPr/>
                </a:tc>
                <a:extLst>
                  <a:ext uri="{0D108BD9-81ED-4DB2-BD59-A6C34878D82A}">
                    <a16:rowId xmlns:a16="http://schemas.microsoft.com/office/drawing/2014/main" val="2021246644"/>
                  </a:ext>
                </a:extLst>
              </a:tr>
              <a:tr h="401185">
                <a:tc>
                  <a:txBody>
                    <a:bodyPr/>
                    <a:lstStyle/>
                    <a:p>
                      <a:pPr algn="ctr"/>
                      <a:r>
                        <a:rPr lang="en-US" dirty="0"/>
                        <a:t>Quality </a:t>
                      </a:r>
                    </a:p>
                  </a:txBody>
                  <a:tcPr/>
                </a:tc>
                <a:tc>
                  <a:txBody>
                    <a:bodyPr/>
                    <a:lstStyle/>
                    <a:p>
                      <a:pPr algn="ctr"/>
                      <a:endParaRPr lang="en-US" dirty="0"/>
                    </a:p>
                  </a:txBody>
                  <a:tcPr/>
                </a:tc>
                <a:extLst>
                  <a:ext uri="{0D108BD9-81ED-4DB2-BD59-A6C34878D82A}">
                    <a16:rowId xmlns:a16="http://schemas.microsoft.com/office/drawing/2014/main" val="2387130653"/>
                  </a:ext>
                </a:extLst>
              </a:tr>
            </a:tbl>
          </a:graphicData>
        </a:graphic>
      </p:graphicFrame>
      <p:sp>
        <p:nvSpPr>
          <p:cNvPr id="19" name="TextBox 18">
            <a:extLst>
              <a:ext uri="{FF2B5EF4-FFF2-40B4-BE49-F238E27FC236}">
                <a16:creationId xmlns:a16="http://schemas.microsoft.com/office/drawing/2014/main" id="{DDF25538-DE59-30A4-96E5-7C3CFF31A01A}"/>
              </a:ext>
            </a:extLst>
          </p:cNvPr>
          <p:cNvSpPr txBox="1"/>
          <p:nvPr/>
        </p:nvSpPr>
        <p:spPr>
          <a:xfrm>
            <a:off x="8349937" y="1500679"/>
            <a:ext cx="2335794" cy="369332"/>
          </a:xfrm>
          <a:prstGeom prst="rect">
            <a:avLst/>
          </a:prstGeom>
          <a:noFill/>
        </p:spPr>
        <p:txBody>
          <a:bodyPr wrap="square" rtlCol="0">
            <a:spAutoFit/>
          </a:bodyPr>
          <a:lstStyle/>
          <a:p>
            <a:r>
              <a:rPr lang="en-US" i="1" u="sng" dirty="0"/>
              <a:t>Knowns (model Input)</a:t>
            </a:r>
          </a:p>
        </p:txBody>
      </p:sp>
    </p:spTree>
    <p:extLst>
      <p:ext uri="{BB962C8B-B14F-4D97-AF65-F5344CB8AC3E}">
        <p14:creationId xmlns:p14="http://schemas.microsoft.com/office/powerpoint/2010/main" val="131657416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159</TotalTime>
  <Words>649</Words>
  <Application>Microsoft Office PowerPoint</Application>
  <PresentationFormat>Widescreen</PresentationFormat>
  <Paragraphs>93</Paragraphs>
  <Slides>7</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7</vt:i4>
      </vt:variant>
    </vt:vector>
  </HeadingPairs>
  <TitlesOfParts>
    <vt:vector size="14" baseType="lpstr">
      <vt:lpstr>Aptos</vt:lpstr>
      <vt:lpstr>Aptos Display</vt:lpstr>
      <vt:lpstr>Aptos Narrow</vt:lpstr>
      <vt:lpstr>Arial</vt:lpstr>
      <vt:lpstr>Calibri</vt:lpstr>
      <vt:lpstr>Wingdings</vt:lpstr>
      <vt:lpstr>Office Theme</vt:lpstr>
      <vt:lpstr>Q&amp;A Response Absorber Component modeling</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Magee, Colby</dc:creator>
  <cp:lastModifiedBy>Magee, Colby</cp:lastModifiedBy>
  <cp:revision>1</cp:revision>
  <dcterms:created xsi:type="dcterms:W3CDTF">2026-09-10T19:18:57Z</dcterms:created>
  <dcterms:modified xsi:type="dcterms:W3CDTF">2026-09-11T18:16:02Z</dcterms:modified>
</cp:coreProperties>
</file>